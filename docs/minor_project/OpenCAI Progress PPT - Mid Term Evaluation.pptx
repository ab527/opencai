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5" r:id="rId3"/>
    <p:sldId id="257" r:id="rId4"/>
    <p:sldId id="270" r:id="rId5"/>
    <p:sldId id="259" r:id="rId6"/>
    <p:sldId id="261" r:id="rId7"/>
    <p:sldId id="267" r:id="rId8"/>
    <p:sldId id="264" r:id="rId9"/>
    <p:sldId id="273" r:id="rId10"/>
    <p:sldId id="268" r:id="rId11"/>
    <p:sldId id="266" r:id="rId12"/>
    <p:sldId id="274" r:id="rId13"/>
    <p:sldId id="269" r:id="rId14"/>
    <p:sldId id="258" r:id="rId1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53"/>
    <p:restoredTop sz="96341"/>
  </p:normalViewPr>
  <p:slideViewPr>
    <p:cSldViewPr snapToGrid="0" snapToObjects="1">
      <p:cViewPr varScale="1">
        <p:scale>
          <a:sx n="79" d="100"/>
          <a:sy n="79" d="100"/>
        </p:scale>
        <p:origin x="557" y="72"/>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DF2390-EFA0-03CF-EA55-16E72A95F82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25FE9881-C2F5-08BE-8547-C46C5A85800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1332748D-1618-433A-A925-80D12FEB0938}" type="datetimeFigureOut">
              <a:rPr lang="en-US"/>
              <a:pPr>
                <a:defRPr/>
              </a:pPr>
              <a:t>10/4/2026</a:t>
            </a:fld>
            <a:endParaRPr lang="en-US"/>
          </a:p>
        </p:txBody>
      </p:sp>
      <p:sp>
        <p:nvSpPr>
          <p:cNvPr id="4" name="Slide Image Placeholder 3">
            <a:extLst>
              <a:ext uri="{FF2B5EF4-FFF2-40B4-BE49-F238E27FC236}">
                <a16:creationId xmlns:a16="http://schemas.microsoft.com/office/drawing/2014/main" id="{03D1E38F-A377-A42D-DFD3-91441519660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9F03669B-A6DD-03E4-86E2-A8B2BF321264}"/>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13BE1CAB-86AD-F789-A269-B5C7845792A6}"/>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7FB69379-1080-9A93-FE48-DCEBF1635377}"/>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35D97DA2-9342-4203-A23A-179EE660206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jdelijke aanduiding voor tekst 5">
            <a:extLst>
              <a:ext uri="{FF2B5EF4-FFF2-40B4-BE49-F238E27FC236}">
                <a16:creationId xmlns:a16="http://schemas.microsoft.com/office/drawing/2014/main" id="{D15A1223-6FC2-7CFC-CB10-B7983516F595}"/>
              </a:ext>
            </a:extLst>
          </p:cNvPr>
          <p:cNvSpPr txBox="1">
            <a:spLocks/>
          </p:cNvSpPr>
          <p:nvPr userDrawn="1"/>
        </p:nvSpPr>
        <p:spPr>
          <a:xfrm>
            <a:off x="0" y="0"/>
            <a:ext cx="12192000" cy="3509963"/>
          </a:xfrm>
          <a:prstGeom prst="rect">
            <a:avLst/>
          </a:prstGeom>
          <a:solidFill>
            <a:srgbClr val="0C2577"/>
          </a:solidFill>
        </p:spPr>
        <p:txBody>
          <a:bodyPr lIns="0" tIns="0" rIns="0" bIns="0">
            <a:normAutofit/>
          </a:bodyPr>
          <a:lstStyle>
            <a:lvl1pPr marL="0" indent="0" algn="l" defTabSz="685434" rtl="0" eaLnBrk="1" latinLnBrk="0" hangingPunct="1">
              <a:lnSpc>
                <a:spcPct val="90000"/>
              </a:lnSpc>
              <a:spcBef>
                <a:spcPts val="450"/>
              </a:spcBef>
              <a:spcAft>
                <a:spcPts val="450"/>
              </a:spcAft>
              <a:buClr>
                <a:schemeClr val="bg2"/>
              </a:buClr>
              <a:buFont typeface="Arial" panose="020B0604020202020204" pitchFamily="34" charset="0"/>
              <a:buNone/>
              <a:defRPr sz="100" kern="1200">
                <a:solidFill>
                  <a:schemeClr val="bg2"/>
                </a:solidFill>
                <a:latin typeface="+mn-lt"/>
                <a:ea typeface="+mn-ea"/>
                <a:cs typeface="+mn-cs"/>
              </a:defRPr>
            </a:lvl1pPr>
            <a:lvl2pPr marL="271318" indent="-135659" algn="l" defTabSz="685434" rtl="0" eaLnBrk="1" latinLnBrk="0" hangingPunct="1">
              <a:lnSpc>
                <a:spcPct val="90000"/>
              </a:lnSpc>
              <a:spcBef>
                <a:spcPts val="450"/>
              </a:spcBef>
              <a:spcAft>
                <a:spcPts val="450"/>
              </a:spcAft>
              <a:buClr>
                <a:schemeClr val="bg2"/>
              </a:buClr>
              <a:buFont typeface="Arial" panose="020B0604020202020204" pitchFamily="34" charset="0"/>
              <a:buChar char="-"/>
              <a:defRPr sz="1400" kern="1200">
                <a:solidFill>
                  <a:schemeClr val="bg2"/>
                </a:solidFill>
                <a:latin typeface="+mn-lt"/>
                <a:ea typeface="+mn-ea"/>
                <a:cs typeface="+mn-cs"/>
              </a:defRPr>
            </a:lvl2pPr>
            <a:lvl3pPr marL="0" indent="0" algn="l" defTabSz="685434" rtl="0" eaLnBrk="1" latinLnBrk="0" hangingPunct="1">
              <a:lnSpc>
                <a:spcPct val="90000"/>
              </a:lnSpc>
              <a:spcBef>
                <a:spcPts val="450"/>
              </a:spcBef>
              <a:spcAft>
                <a:spcPts val="450"/>
              </a:spcAft>
              <a:buFont typeface="Arial" panose="020B0604020202020204" pitchFamily="34" charset="0"/>
              <a:buNone/>
              <a:defRPr sz="1600" kern="1200" baseline="0">
                <a:solidFill>
                  <a:schemeClr val="bg2"/>
                </a:solidFill>
                <a:latin typeface="+mn-lt"/>
                <a:ea typeface="+mn-ea"/>
                <a:cs typeface="+mn-cs"/>
              </a:defRPr>
            </a:lvl3pPr>
            <a:lvl4pPr marL="0" indent="0" algn="l" defTabSz="685434" rtl="0" eaLnBrk="1" latinLnBrk="0" hangingPunct="1">
              <a:lnSpc>
                <a:spcPct val="90000"/>
              </a:lnSpc>
              <a:spcBef>
                <a:spcPts val="450"/>
              </a:spcBef>
              <a:spcAft>
                <a:spcPts val="450"/>
              </a:spcAft>
              <a:buFont typeface="Arial" panose="020B0604020202020204" pitchFamily="34" charset="0"/>
              <a:buNone/>
              <a:defRPr sz="1600" b="1" kern="1200">
                <a:solidFill>
                  <a:schemeClr val="bg2"/>
                </a:solidFill>
                <a:latin typeface="+mn-lt"/>
                <a:ea typeface="+mn-ea"/>
                <a:cs typeface="+mn-cs"/>
              </a:defRPr>
            </a:lvl4pPr>
            <a:lvl5pPr marL="0" indent="0" algn="l" defTabSz="685434" rtl="0" eaLnBrk="1" latinLnBrk="0" hangingPunct="1">
              <a:lnSpc>
                <a:spcPct val="90000"/>
              </a:lnSpc>
              <a:spcBef>
                <a:spcPts val="450"/>
              </a:spcBef>
              <a:spcAft>
                <a:spcPts val="450"/>
              </a:spcAft>
              <a:buFont typeface="Arial" panose="020B0604020202020204" pitchFamily="34" charset="0"/>
              <a:buNone/>
              <a:defRPr sz="1600" b="1" kern="1200" baseline="0">
                <a:solidFill>
                  <a:schemeClr val="tx2"/>
                </a:solidFill>
                <a:latin typeface="+mn-lt"/>
                <a:ea typeface="+mn-ea"/>
                <a:cs typeface="+mn-cs"/>
              </a:defRPr>
            </a:lvl5pPr>
            <a:lvl6pPr marL="135659" indent="-135659" algn="l" defTabSz="685434" rtl="0" eaLnBrk="1" latinLnBrk="0" hangingPunct="1">
              <a:lnSpc>
                <a:spcPct val="90000"/>
              </a:lnSpc>
              <a:spcBef>
                <a:spcPts val="450"/>
              </a:spcBef>
              <a:spcAft>
                <a:spcPts val="450"/>
              </a:spcAft>
              <a:buClr>
                <a:schemeClr val="bg2"/>
              </a:buClr>
              <a:buFont typeface="Arial" panose="020B0604020202020204" pitchFamily="34" charset="0"/>
              <a:buChar char="•"/>
              <a:defRPr sz="1600" kern="1200">
                <a:solidFill>
                  <a:schemeClr val="bg2"/>
                </a:solidFill>
                <a:latin typeface="+mn-lt"/>
                <a:ea typeface="+mn-ea"/>
                <a:cs typeface="+mn-cs"/>
              </a:defRPr>
            </a:lvl6pPr>
            <a:lvl7pPr marL="271318" indent="-135659" algn="l" defTabSz="685434" rtl="0" eaLnBrk="1" latinLnBrk="0" hangingPunct="1">
              <a:lnSpc>
                <a:spcPct val="90000"/>
              </a:lnSpc>
              <a:spcBef>
                <a:spcPts val="450"/>
              </a:spcBef>
              <a:spcAft>
                <a:spcPts val="450"/>
              </a:spcAft>
              <a:buClr>
                <a:schemeClr val="bg2"/>
              </a:buClr>
              <a:buFont typeface="Arial" panose="020B0604020202020204" pitchFamily="34" charset="0"/>
              <a:buChar char="-"/>
              <a:defRPr sz="1600" kern="1200">
                <a:solidFill>
                  <a:schemeClr val="bg2"/>
                </a:solidFill>
                <a:latin typeface="+mn-lt"/>
                <a:ea typeface="+mn-ea"/>
                <a:cs typeface="+mn-cs"/>
              </a:defRPr>
            </a:lvl7pPr>
            <a:lvl8pPr marL="0" indent="0" algn="l" defTabSz="685434" rtl="0" eaLnBrk="1" latinLnBrk="0" hangingPunct="1">
              <a:lnSpc>
                <a:spcPct val="90000"/>
              </a:lnSpc>
              <a:spcBef>
                <a:spcPts val="450"/>
              </a:spcBef>
              <a:spcAft>
                <a:spcPts val="450"/>
              </a:spcAft>
              <a:buFont typeface="Arial" panose="020B0604020202020204" pitchFamily="34" charset="0"/>
              <a:buNone/>
              <a:defRPr sz="1400" kern="1200">
                <a:solidFill>
                  <a:schemeClr val="bg2"/>
                </a:solidFill>
                <a:latin typeface="+mn-lt"/>
                <a:ea typeface="+mn-ea"/>
                <a:cs typeface="+mn-cs"/>
              </a:defRPr>
            </a:lvl8pPr>
            <a:lvl9pPr marL="0" indent="0" algn="l" defTabSz="685434" rtl="0" eaLnBrk="1" latinLnBrk="0" hangingPunct="1">
              <a:lnSpc>
                <a:spcPct val="90000"/>
              </a:lnSpc>
              <a:spcBef>
                <a:spcPts val="450"/>
              </a:spcBef>
              <a:spcAft>
                <a:spcPts val="450"/>
              </a:spcAft>
              <a:buFont typeface="Arial" panose="020B0604020202020204" pitchFamily="34" charset="0"/>
              <a:buNone/>
              <a:defRPr sz="1600" b="1" kern="1200" baseline="0">
                <a:solidFill>
                  <a:schemeClr val="bg2"/>
                </a:solidFill>
                <a:latin typeface="+mn-lt"/>
                <a:ea typeface="+mn-ea"/>
                <a:cs typeface="+mn-cs"/>
              </a:defRPr>
            </a:lvl9pPr>
          </a:lstStyle>
          <a:p>
            <a:pPr fontAlgn="auto">
              <a:buClr>
                <a:srgbClr val="0C2577"/>
              </a:buClr>
              <a:defRPr/>
            </a:pPr>
            <a:r>
              <a:rPr lang="en-US">
                <a:solidFill>
                  <a:srgbClr val="0C2577"/>
                </a:solidFill>
                <a:latin typeface="Georgia"/>
              </a:rPr>
              <a:t>..</a:t>
            </a:r>
            <a:endParaRPr lang="en-US" dirty="0">
              <a:solidFill>
                <a:srgbClr val="0C2577"/>
              </a:solidFill>
              <a:latin typeface="Georgia"/>
            </a:endParaRPr>
          </a:p>
        </p:txBody>
      </p:sp>
      <p:pic>
        <p:nvPicPr>
          <p:cNvPr id="5" name="Picture 11">
            <a:extLst>
              <a:ext uri="{FF2B5EF4-FFF2-40B4-BE49-F238E27FC236}">
                <a16:creationId xmlns:a16="http://schemas.microsoft.com/office/drawing/2014/main" id="{968B12D3-220E-AB35-4B57-97E35772C47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0813" y="4852988"/>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12">
            <a:extLst>
              <a:ext uri="{FF2B5EF4-FFF2-40B4-BE49-F238E27FC236}">
                <a16:creationId xmlns:a16="http://schemas.microsoft.com/office/drawing/2014/main" id="{56FC71BA-04E0-19D3-952E-BCFF6CB93848}"/>
              </a:ext>
            </a:extLst>
          </p:cNvPr>
          <p:cNvSpPr txBox="1">
            <a:spLocks noChangeArrowheads="1"/>
          </p:cNvSpPr>
          <p:nvPr userDrawn="1"/>
        </p:nvSpPr>
        <p:spPr bwMode="auto">
          <a:xfrm>
            <a:off x="1619250" y="5013325"/>
            <a:ext cx="5559425" cy="923925"/>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defRPr/>
            </a:pPr>
            <a:r>
              <a:rPr lang="en-IN" altLang="en-US" b="1">
                <a:solidFill>
                  <a:srgbClr val="23298A"/>
                </a:solidFill>
                <a:latin typeface="Georgia" panose="02040502050405020303" pitchFamily="18" charset="0"/>
              </a:rPr>
              <a:t>Dr. Shyama Prasad Mukherjee International Institute of Information Technology, Naya Raipur </a:t>
            </a:r>
            <a:endParaRPr lang="en-US" altLang="en-US" b="1">
              <a:solidFill>
                <a:srgbClr val="23298A"/>
              </a:solidFill>
              <a:latin typeface="Georgia" panose="02040502050405020303" pitchFamily="18" charset="0"/>
            </a:endParaRPr>
          </a:p>
        </p:txBody>
      </p:sp>
      <p:sp>
        <p:nvSpPr>
          <p:cNvPr id="7" name="Subtitle 2">
            <a:extLst>
              <a:ext uri="{FF2B5EF4-FFF2-40B4-BE49-F238E27FC236}">
                <a16:creationId xmlns:a16="http://schemas.microsoft.com/office/drawing/2014/main" id="{B29DDFB7-ECEE-BDCA-4DD7-4DDA0BC878A5}"/>
              </a:ext>
            </a:extLst>
          </p:cNvPr>
          <p:cNvSpPr txBox="1">
            <a:spLocks/>
          </p:cNvSpPr>
          <p:nvPr userDrawn="1"/>
        </p:nvSpPr>
        <p:spPr>
          <a:xfrm>
            <a:off x="8374063" y="3787775"/>
            <a:ext cx="3171825" cy="427038"/>
          </a:xfrm>
          <a:prstGeom prst="rect">
            <a:avLst/>
          </a:prstGeom>
        </p:spPr>
        <p:txBody>
          <a:bodyP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Georgia" panose="02040502050405020303" pitchFamily="18"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fontAlgn="auto">
              <a:spcAft>
                <a:spcPts val="0"/>
              </a:spcAft>
              <a:defRPr/>
            </a:pPr>
            <a:r>
              <a:rPr lang="en-US" sz="2000" dirty="0"/>
              <a:t>Date:</a:t>
            </a:r>
          </a:p>
        </p:txBody>
      </p:sp>
      <p:sp>
        <p:nvSpPr>
          <p:cNvPr id="11" name="Tijdelijke aanduiding voor tekst 5"/>
          <p:cNvSpPr>
            <a:spLocks noGrp="1"/>
          </p:cNvSpPr>
          <p:nvPr>
            <p:ph type="body" sz="quarter" idx="13"/>
          </p:nvPr>
        </p:nvSpPr>
        <p:spPr>
          <a:xfrm>
            <a:off x="1" y="3509963"/>
            <a:ext cx="12191999" cy="1011980"/>
          </a:xfrm>
          <a:solidFill>
            <a:srgbClr val="8592BC"/>
          </a:solidFill>
        </p:spPr>
        <p:txBody>
          <a:bodyPr>
            <a:normAutofit/>
          </a:bodyPr>
          <a:lstStyle>
            <a:lvl1pPr marL="0" indent="0">
              <a:buNone/>
              <a:defRPr sz="100">
                <a:solidFill>
                  <a:schemeClr val="bg2"/>
                </a:solidFill>
              </a:defRPr>
            </a:lvl1pPr>
          </a:lstStyle>
          <a:p>
            <a:pPr lvl="0"/>
            <a:r>
              <a:rPr lang="en-US" noProof="0"/>
              <a:t>Edit Master text styles</a:t>
            </a:r>
          </a:p>
        </p:txBody>
      </p:sp>
      <p:sp>
        <p:nvSpPr>
          <p:cNvPr id="2" name="Title 1"/>
          <p:cNvSpPr>
            <a:spLocks noGrp="1"/>
          </p:cNvSpPr>
          <p:nvPr>
            <p:ph type="ctrTitle"/>
          </p:nvPr>
        </p:nvSpPr>
        <p:spPr>
          <a:xfrm>
            <a:off x="1524000" y="1122363"/>
            <a:ext cx="9144000" cy="1635125"/>
          </a:xfrm>
        </p:spPr>
        <p:txBody>
          <a:bodyPr anchor="b">
            <a:normAutofit/>
          </a:bodyPr>
          <a:lstStyle>
            <a:lvl1pPr algn="ctr">
              <a:defRPr sz="4800" b="1">
                <a:solidFill>
                  <a:schemeClr val="bg1"/>
                </a:solidFill>
                <a:latin typeface="Georgia" panose="02040502050405020303"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602166" y="3787947"/>
            <a:ext cx="6445405" cy="508225"/>
          </a:xfrm>
        </p:spPr>
        <p:txBody>
          <a:bodyPr>
            <a:normAutofit/>
          </a:bodyPr>
          <a:lstStyle>
            <a:lvl1pPr marL="0" marR="0" indent="0" algn="l" defTabSz="685434" rtl="0" eaLnBrk="1" fontAlgn="auto" latinLnBrk="0" hangingPunct="1">
              <a:lnSpc>
                <a:spcPct val="90000"/>
              </a:lnSpc>
              <a:spcBef>
                <a:spcPts val="450"/>
              </a:spcBef>
              <a:spcAft>
                <a:spcPts val="450"/>
              </a:spcAft>
              <a:buClr>
                <a:srgbClr val="0C2577"/>
              </a:buClr>
              <a:buSzTx/>
              <a:buFont typeface="Arial" panose="020B0604020202020204" pitchFamily="34" charset="0"/>
              <a:buNone/>
              <a:tabLst/>
              <a:defRPr sz="2400">
                <a:solidFill>
                  <a:schemeClr val="bg1"/>
                </a:solidFill>
                <a:latin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noProof="0"/>
              <a:t>Click to edit Master subtitle style</a:t>
            </a:r>
            <a:endParaRPr lang="en-US" noProof="0" dirty="0"/>
          </a:p>
        </p:txBody>
      </p:sp>
      <p:sp>
        <p:nvSpPr>
          <p:cNvPr id="8" name="Footer Placeholder 4">
            <a:extLst>
              <a:ext uri="{FF2B5EF4-FFF2-40B4-BE49-F238E27FC236}">
                <a16:creationId xmlns:a16="http://schemas.microsoft.com/office/drawing/2014/main" id="{5A3E2143-9357-C6D3-2FF8-D8CBA769DFF9}"/>
              </a:ext>
            </a:extLst>
          </p:cNvPr>
          <p:cNvSpPr>
            <a:spLocks noGrp="1"/>
          </p:cNvSpPr>
          <p:nvPr>
            <p:ph type="ftr" sz="quarter" idx="14"/>
          </p:nvPr>
        </p:nvSpPr>
        <p:spPr/>
        <p:txBody>
          <a:bodyPr/>
          <a:lstStyle>
            <a:lvl1pPr algn="ctr">
              <a:defRPr sz="1400" b="0" i="0">
                <a:solidFill>
                  <a:schemeClr val="bg1"/>
                </a:solidFill>
                <a:latin typeface="Georgia" panose="02040502050405020303" pitchFamily="18" charset="0"/>
              </a:defRPr>
            </a:lvl1pPr>
          </a:lstStyle>
          <a:p>
            <a:pPr>
              <a:defRPr/>
            </a:pPr>
            <a:r>
              <a:rPr lang="en-US"/>
              <a:t>International Institute of Information Technology, </a:t>
            </a:r>
            <a:r>
              <a:rPr lang="en-US" err="1"/>
              <a:t>Naya</a:t>
            </a:r>
            <a:r>
              <a:rPr lang="en-US"/>
              <a:t> Raipur</a:t>
            </a:r>
          </a:p>
        </p:txBody>
      </p:sp>
    </p:spTree>
    <p:extLst>
      <p:ext uri="{BB962C8B-B14F-4D97-AF65-F5344CB8AC3E}">
        <p14:creationId xmlns:p14="http://schemas.microsoft.com/office/powerpoint/2010/main" val="147359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25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1000" fill="hold"/>
                                        <p:tgtEl>
                                          <p:spTgt spid="4">
                                            <p:bg/>
                                          </p:spTgt>
                                        </p:tgtEl>
                                        <p:attrNameLst>
                                          <p:attrName>ppt_x</p:attrName>
                                        </p:attrNameLst>
                                      </p:cBhvr>
                                      <p:tavLst>
                                        <p:tav tm="0">
                                          <p:val>
                                            <p:strVal val="#ppt_x"/>
                                          </p:val>
                                        </p:tav>
                                        <p:tav tm="100000">
                                          <p:val>
                                            <p:strVal val="#ppt_x"/>
                                          </p:val>
                                        </p:tav>
                                      </p:tavLst>
                                    </p:anim>
                                    <p:anim calcmode="lin" valueType="num">
                                      <p:cBhvr additive="base">
                                        <p:cTn id="8" dur="1000" fill="hold"/>
                                        <p:tgtEl>
                                          <p:spTgt spid="4">
                                            <p:bg/>
                                          </p:spTgt>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25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4">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tmplLst>
          <p:tmpl>
            <p:tnLst>
              <p:par>
                <p:cTn presetID="2" presetClass="entr" presetSubtype="1" decel="100000" fill="hold" nodeType="withEffect">
                  <p:stCondLst>
                    <p:cond delay="25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1000" fill="hold"/>
                        <p:tgtEl>
                          <p:spTgt spid="4"/>
                        </p:tgtEl>
                        <p:attrNameLst>
                          <p:attrName>ppt_x</p:attrName>
                        </p:attrNameLst>
                      </p:cBhvr>
                      <p:tavLst>
                        <p:tav tm="0">
                          <p:val>
                            <p:strVal val="#ppt_x"/>
                          </p:val>
                        </p:tav>
                        <p:tav tm="100000">
                          <p:val>
                            <p:strVal val="#ppt_x"/>
                          </p:val>
                        </p:tav>
                      </p:tavLst>
                    </p:anim>
                    <p:anim calcmode="lin" valueType="num">
                      <p:cBhvr additive="base">
                        <p:cTn dur="1000" fill="hold"/>
                        <p:tgtEl>
                          <p:spTgt spid="4"/>
                        </p:tgtEl>
                        <p:attrNameLst>
                          <p:attrName>ppt_y</p:attrName>
                        </p:attrNameLst>
                      </p:cBhvr>
                      <p:tavLst>
                        <p:tav tm="0">
                          <p:val>
                            <p:strVal val="0-#ppt_h/2"/>
                          </p:val>
                        </p:tav>
                        <p:tav tm="100000">
                          <p:val>
                            <p:strVal val="#ppt_y"/>
                          </p:val>
                        </p:tav>
                      </p:tavLst>
                    </p:anim>
                  </p:childTnLst>
                </p:cTn>
              </p:par>
            </p:tnLst>
          </p:tmpl>
          <p:tmpl lvl="1">
            <p:tnLst>
              <p:par>
                <p:cTn presetID="2" presetClass="entr" presetSubtype="1" decel="100000" fill="hold" nodeType="withEffect">
                  <p:stCondLst>
                    <p:cond delay="25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1000" fill="hold"/>
                        <p:tgtEl>
                          <p:spTgt spid="4"/>
                        </p:tgtEl>
                        <p:attrNameLst>
                          <p:attrName>ppt_x</p:attrName>
                        </p:attrNameLst>
                      </p:cBhvr>
                      <p:tavLst>
                        <p:tav tm="0">
                          <p:val>
                            <p:strVal val="#ppt_x"/>
                          </p:val>
                        </p:tav>
                        <p:tav tm="100000">
                          <p:val>
                            <p:strVal val="#ppt_x"/>
                          </p:val>
                        </p:tav>
                      </p:tavLst>
                    </p:anim>
                    <p:anim calcmode="lin" valueType="num">
                      <p:cBhvr additive="base">
                        <p:cTn dur="1000" fill="hold"/>
                        <p:tgtEl>
                          <p:spTgt spid="4"/>
                        </p:tgtEl>
                        <p:attrNameLst>
                          <p:attrName>ppt_y</p:attrName>
                        </p:attrNameLst>
                      </p:cBhvr>
                      <p:tavLst>
                        <p:tav tm="0">
                          <p:val>
                            <p:strVal val="0-#ppt_h/2"/>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8"/>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2" name="Date Placeholder 9">
            <a:extLst>
              <a:ext uri="{FF2B5EF4-FFF2-40B4-BE49-F238E27FC236}">
                <a16:creationId xmlns:a16="http://schemas.microsoft.com/office/drawing/2014/main" id="{D64AEAED-620E-0FE7-E00B-6CC07308A00C}"/>
              </a:ext>
            </a:extLst>
          </p:cNvPr>
          <p:cNvSpPr>
            <a:spLocks noGrp="1"/>
          </p:cNvSpPr>
          <p:nvPr>
            <p:ph type="dt" sz="half" idx="10"/>
          </p:nvPr>
        </p:nvSpPr>
        <p:spPr>
          <a:xfrm>
            <a:off x="266700" y="6557963"/>
            <a:ext cx="2209800" cy="300037"/>
          </a:xfrm>
        </p:spPr>
        <p:txBody>
          <a:bodyPr/>
          <a:lstStyle>
            <a:lvl1pPr>
              <a:defRPr/>
            </a:lvl1pPr>
          </a:lstStyle>
          <a:p>
            <a:pPr>
              <a:defRPr/>
            </a:pPr>
            <a:fld id="{EFA18FB9-D96C-4044-A638-02B4309B60C6}" type="datetime1">
              <a:rPr lang="en-IN"/>
              <a:pPr>
                <a:defRPr/>
              </a:pPr>
              <a:t>04-10-2026</a:t>
            </a:fld>
            <a:endParaRPr lang="en-US" dirty="0"/>
          </a:p>
        </p:txBody>
      </p:sp>
      <p:sp>
        <p:nvSpPr>
          <p:cNvPr id="4" name="Footer Placeholder 10">
            <a:extLst>
              <a:ext uri="{FF2B5EF4-FFF2-40B4-BE49-F238E27FC236}">
                <a16:creationId xmlns:a16="http://schemas.microsoft.com/office/drawing/2014/main" id="{2691C2BD-41F2-85F0-0D76-E97C9DCAB307}"/>
              </a:ext>
            </a:extLst>
          </p:cNvPr>
          <p:cNvSpPr>
            <a:spLocks noGrp="1"/>
          </p:cNvSpPr>
          <p:nvPr>
            <p:ph type="ftr" sz="quarter" idx="11"/>
          </p:nvPr>
        </p:nvSpPr>
        <p:spPr/>
        <p:txBody>
          <a:bodyPr/>
          <a:lstStyle>
            <a:lvl1pPr>
              <a:defRPr/>
            </a:lvl1pPr>
          </a:lstStyle>
          <a:p>
            <a:pPr>
              <a:defRPr/>
            </a:pPr>
            <a:r>
              <a:rPr lang="en-US"/>
              <a:t>International Institute of Information Technology, Naya Raipur</a:t>
            </a:r>
          </a:p>
        </p:txBody>
      </p:sp>
      <p:sp>
        <p:nvSpPr>
          <p:cNvPr id="5" name="Slide Number Placeholder 11">
            <a:extLst>
              <a:ext uri="{FF2B5EF4-FFF2-40B4-BE49-F238E27FC236}">
                <a16:creationId xmlns:a16="http://schemas.microsoft.com/office/drawing/2014/main" id="{72EAA390-F919-2E1E-65EF-64BA549BE754}"/>
              </a:ext>
            </a:extLst>
          </p:cNvPr>
          <p:cNvSpPr>
            <a:spLocks noGrp="1"/>
          </p:cNvSpPr>
          <p:nvPr>
            <p:ph type="sldNum" sz="quarter" idx="12"/>
          </p:nvPr>
        </p:nvSpPr>
        <p:spPr>
          <a:xfrm>
            <a:off x="9629775" y="6492875"/>
            <a:ext cx="1979613" cy="365125"/>
          </a:xfrm>
        </p:spPr>
        <p:txBody>
          <a:bodyPr/>
          <a:lstStyle>
            <a:lvl1pPr>
              <a:defRPr smtClean="0"/>
            </a:lvl1pPr>
          </a:lstStyle>
          <a:p>
            <a:pPr>
              <a:defRPr/>
            </a:pPr>
            <a:fld id="{D12330F0-B579-4871-A03B-D4DEAD0EEBC9}" type="slidenum">
              <a:rPr lang="en-US" altLang="en-US"/>
              <a:pPr>
                <a:defRPr/>
              </a:pPr>
              <a:t>‹#›</a:t>
            </a:fld>
            <a:endParaRPr lang="en-US" altLang="en-US"/>
          </a:p>
        </p:txBody>
      </p:sp>
    </p:spTree>
    <p:extLst>
      <p:ext uri="{BB962C8B-B14F-4D97-AF65-F5344CB8AC3E}">
        <p14:creationId xmlns:p14="http://schemas.microsoft.com/office/powerpoint/2010/main" val="4052506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E5128D86-B4CE-55C2-4B7E-9751C14E7A46}"/>
              </a:ext>
            </a:extLst>
          </p:cNvPr>
          <p:cNvSpPr>
            <a:spLocks noGrp="1"/>
          </p:cNvSpPr>
          <p:nvPr>
            <p:ph type="dt" sz="half" idx="10"/>
          </p:nvPr>
        </p:nvSpPr>
        <p:spPr/>
        <p:txBody>
          <a:bodyPr/>
          <a:lstStyle>
            <a:lvl1pPr>
              <a:defRPr/>
            </a:lvl1pPr>
          </a:lstStyle>
          <a:p>
            <a:pPr>
              <a:defRPr/>
            </a:pPr>
            <a:fld id="{EC2A504F-B7BD-44D3-B087-92A0F44F4303}" type="datetime1">
              <a:rPr lang="en-IN"/>
              <a:pPr>
                <a:defRPr/>
              </a:pPr>
              <a:t>04-10-2026</a:t>
            </a:fld>
            <a:endParaRPr lang="en-US"/>
          </a:p>
        </p:txBody>
      </p:sp>
      <p:sp>
        <p:nvSpPr>
          <p:cNvPr id="6" name="Footer Placeholder 5">
            <a:extLst>
              <a:ext uri="{FF2B5EF4-FFF2-40B4-BE49-F238E27FC236}">
                <a16:creationId xmlns:a16="http://schemas.microsoft.com/office/drawing/2014/main" id="{21F549F8-845A-2C46-4CBE-E94D9F95FEC6}"/>
              </a:ext>
            </a:extLst>
          </p:cNvPr>
          <p:cNvSpPr>
            <a:spLocks noGrp="1"/>
          </p:cNvSpPr>
          <p:nvPr>
            <p:ph type="ftr" sz="quarter" idx="11"/>
          </p:nvPr>
        </p:nvSpPr>
        <p:spPr>
          <a:xfrm>
            <a:off x="3136900" y="6492875"/>
            <a:ext cx="5283200" cy="365125"/>
          </a:xfrm>
        </p:spPr>
        <p:txBody>
          <a:bodyPr/>
          <a:lstStyle>
            <a:lvl1pPr>
              <a:defRPr/>
            </a:lvl1pPr>
          </a:lstStyle>
          <a:p>
            <a:pPr>
              <a:defRPr/>
            </a:pPr>
            <a:r>
              <a:rPr lang="en-US"/>
              <a:t>International Institute of Information Technology, Naya Raipur</a:t>
            </a:r>
          </a:p>
        </p:txBody>
      </p:sp>
      <p:sp>
        <p:nvSpPr>
          <p:cNvPr id="7" name="Slide Number Placeholder 6">
            <a:extLst>
              <a:ext uri="{FF2B5EF4-FFF2-40B4-BE49-F238E27FC236}">
                <a16:creationId xmlns:a16="http://schemas.microsoft.com/office/drawing/2014/main" id="{73661596-0927-17D2-066B-C9E8B9D293F8}"/>
              </a:ext>
            </a:extLst>
          </p:cNvPr>
          <p:cNvSpPr>
            <a:spLocks noGrp="1"/>
          </p:cNvSpPr>
          <p:nvPr>
            <p:ph type="sldNum" sz="quarter" idx="12"/>
          </p:nvPr>
        </p:nvSpPr>
        <p:spPr/>
        <p:txBody>
          <a:bodyPr/>
          <a:lstStyle>
            <a:lvl1pPr>
              <a:defRPr smtClean="0"/>
            </a:lvl1pPr>
          </a:lstStyle>
          <a:p>
            <a:pPr>
              <a:defRPr/>
            </a:pPr>
            <a:fld id="{700E809C-0245-48B8-9D1F-EB2353BFEAB7}" type="slidenum">
              <a:rPr lang="en-US" altLang="en-US"/>
              <a:pPr>
                <a:defRPr/>
              </a:pPr>
              <a:t>‹#›</a:t>
            </a:fld>
            <a:endParaRPr lang="en-US" altLang="en-US"/>
          </a:p>
        </p:txBody>
      </p:sp>
    </p:spTree>
    <p:extLst>
      <p:ext uri="{BB962C8B-B14F-4D97-AF65-F5344CB8AC3E}">
        <p14:creationId xmlns:p14="http://schemas.microsoft.com/office/powerpoint/2010/main" val="1130466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3" name="Date Placeholder 3">
            <a:extLst>
              <a:ext uri="{FF2B5EF4-FFF2-40B4-BE49-F238E27FC236}">
                <a16:creationId xmlns:a16="http://schemas.microsoft.com/office/drawing/2014/main" id="{28250F41-30EB-D44D-D611-4095794E9B07}"/>
              </a:ext>
            </a:extLst>
          </p:cNvPr>
          <p:cNvSpPr>
            <a:spLocks noGrp="1"/>
          </p:cNvSpPr>
          <p:nvPr>
            <p:ph type="dt" sz="half" idx="10"/>
          </p:nvPr>
        </p:nvSpPr>
        <p:spPr/>
        <p:txBody>
          <a:bodyPr/>
          <a:lstStyle>
            <a:lvl1pPr>
              <a:defRPr/>
            </a:lvl1pPr>
          </a:lstStyle>
          <a:p>
            <a:pPr>
              <a:defRPr/>
            </a:pPr>
            <a:fld id="{79D788E9-D08B-4AC6-85BE-8FE5D409697B}" type="datetime1">
              <a:rPr lang="en-IN"/>
              <a:pPr>
                <a:defRPr/>
              </a:pPr>
              <a:t>04-10-2026</a:t>
            </a:fld>
            <a:endParaRPr lang="en-US" dirty="0"/>
          </a:p>
        </p:txBody>
      </p:sp>
      <p:sp>
        <p:nvSpPr>
          <p:cNvPr id="4" name="Slide Number Placeholder 5">
            <a:extLst>
              <a:ext uri="{FF2B5EF4-FFF2-40B4-BE49-F238E27FC236}">
                <a16:creationId xmlns:a16="http://schemas.microsoft.com/office/drawing/2014/main" id="{ECEBAD15-986C-6A55-7864-0FE95CCB4604}"/>
              </a:ext>
            </a:extLst>
          </p:cNvPr>
          <p:cNvSpPr>
            <a:spLocks noGrp="1"/>
          </p:cNvSpPr>
          <p:nvPr>
            <p:ph type="sldNum" sz="quarter" idx="11"/>
          </p:nvPr>
        </p:nvSpPr>
        <p:spPr/>
        <p:txBody>
          <a:bodyPr/>
          <a:lstStyle>
            <a:lvl1pPr>
              <a:defRPr/>
            </a:lvl1pPr>
          </a:lstStyle>
          <a:p>
            <a:pPr>
              <a:defRPr/>
            </a:pPr>
            <a:fld id="{812BA302-DED0-4715-A664-D1E4FFA138D7}" type="slidenum">
              <a:rPr lang="en-US" altLang="en-US"/>
              <a:pPr>
                <a:defRPr/>
              </a:pPr>
              <a:t>‹#›</a:t>
            </a:fld>
            <a:endParaRPr lang="en-US" altLang="en-US"/>
          </a:p>
        </p:txBody>
      </p:sp>
      <p:sp>
        <p:nvSpPr>
          <p:cNvPr id="5" name="Footer Placeholder 4">
            <a:extLst>
              <a:ext uri="{FF2B5EF4-FFF2-40B4-BE49-F238E27FC236}">
                <a16:creationId xmlns:a16="http://schemas.microsoft.com/office/drawing/2014/main" id="{B06F0D21-380B-F9E0-8EF4-4C4688502729}"/>
              </a:ext>
            </a:extLst>
          </p:cNvPr>
          <p:cNvSpPr>
            <a:spLocks noGrp="1"/>
          </p:cNvSpPr>
          <p:nvPr>
            <p:ph type="ftr" sz="quarter" idx="12"/>
          </p:nvPr>
        </p:nvSpPr>
        <p:spPr/>
        <p:txBody>
          <a:bodyPr/>
          <a:lstStyle>
            <a:lvl1pPr>
              <a:defRPr/>
            </a:lvl1pPr>
          </a:lstStyle>
          <a:p>
            <a:pPr>
              <a:defRPr/>
            </a:pPr>
            <a:r>
              <a:rPr lang="en-US"/>
              <a:t>International Institute of Information Technology, </a:t>
            </a:r>
            <a:r>
              <a:rPr lang="en-US" err="1"/>
              <a:t>Naya</a:t>
            </a:r>
            <a:r>
              <a:rPr lang="en-US"/>
              <a:t> Raipur</a:t>
            </a:r>
          </a:p>
        </p:txBody>
      </p:sp>
    </p:spTree>
    <p:extLst>
      <p:ext uri="{BB962C8B-B14F-4D97-AF65-F5344CB8AC3E}">
        <p14:creationId xmlns:p14="http://schemas.microsoft.com/office/powerpoint/2010/main" val="3808431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solidFill>
                  <a:srgbClr val="002060"/>
                </a:solidFill>
              </a:defRPr>
            </a:lvl1p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1272E93A-15CB-11F7-028F-57EA51BDC47D}"/>
              </a:ext>
            </a:extLst>
          </p:cNvPr>
          <p:cNvSpPr>
            <a:spLocks noGrp="1"/>
          </p:cNvSpPr>
          <p:nvPr>
            <p:ph type="dt" sz="half" idx="10"/>
          </p:nvPr>
        </p:nvSpPr>
        <p:spPr/>
        <p:txBody>
          <a:bodyPr/>
          <a:lstStyle>
            <a:lvl1pPr>
              <a:defRPr/>
            </a:lvl1pPr>
          </a:lstStyle>
          <a:p>
            <a:pPr>
              <a:defRPr/>
            </a:pPr>
            <a:fld id="{BF95ACB1-800B-4587-B1EE-91BC6B41E985}" type="datetime1">
              <a:rPr lang="en-IN"/>
              <a:pPr>
                <a:defRPr/>
              </a:pPr>
              <a:t>04-10-2026</a:t>
            </a:fld>
            <a:endParaRPr lang="en-US" dirty="0"/>
          </a:p>
        </p:txBody>
      </p:sp>
      <p:sp>
        <p:nvSpPr>
          <p:cNvPr id="8" name="Slide Number Placeholder 5">
            <a:extLst>
              <a:ext uri="{FF2B5EF4-FFF2-40B4-BE49-F238E27FC236}">
                <a16:creationId xmlns:a16="http://schemas.microsoft.com/office/drawing/2014/main" id="{3E2CD4BC-3004-5722-1A07-35A847C1A4F9}"/>
              </a:ext>
            </a:extLst>
          </p:cNvPr>
          <p:cNvSpPr>
            <a:spLocks noGrp="1"/>
          </p:cNvSpPr>
          <p:nvPr>
            <p:ph type="sldNum" sz="quarter" idx="11"/>
          </p:nvPr>
        </p:nvSpPr>
        <p:spPr/>
        <p:txBody>
          <a:bodyPr/>
          <a:lstStyle>
            <a:lvl1pPr>
              <a:defRPr/>
            </a:lvl1pPr>
          </a:lstStyle>
          <a:p>
            <a:pPr>
              <a:defRPr/>
            </a:pPr>
            <a:fld id="{0F05CE4B-76C3-4444-917F-602F1D648D73}" type="slidenum">
              <a:rPr lang="en-US" altLang="en-US"/>
              <a:pPr>
                <a:defRPr/>
              </a:pPr>
              <a:t>‹#›</a:t>
            </a:fld>
            <a:endParaRPr lang="en-US" altLang="en-US"/>
          </a:p>
        </p:txBody>
      </p:sp>
      <p:sp>
        <p:nvSpPr>
          <p:cNvPr id="9" name="Footer Placeholder 4">
            <a:extLst>
              <a:ext uri="{FF2B5EF4-FFF2-40B4-BE49-F238E27FC236}">
                <a16:creationId xmlns:a16="http://schemas.microsoft.com/office/drawing/2014/main" id="{777CA797-853E-B3B8-99C1-82720F908469}"/>
              </a:ext>
            </a:extLst>
          </p:cNvPr>
          <p:cNvSpPr>
            <a:spLocks noGrp="1"/>
          </p:cNvSpPr>
          <p:nvPr>
            <p:ph type="ftr" sz="quarter" idx="12"/>
          </p:nvPr>
        </p:nvSpPr>
        <p:spPr/>
        <p:txBody>
          <a:bodyPr/>
          <a:lstStyle>
            <a:lvl1pPr>
              <a:defRPr/>
            </a:lvl1pPr>
          </a:lstStyle>
          <a:p>
            <a:pPr>
              <a:defRPr/>
            </a:pPr>
            <a:r>
              <a:rPr lang="en-US"/>
              <a:t>International Institute of Information Technology, </a:t>
            </a:r>
            <a:r>
              <a:rPr lang="en-US" err="1"/>
              <a:t>Naya</a:t>
            </a:r>
            <a:r>
              <a:rPr lang="en-US"/>
              <a:t> Raipur</a:t>
            </a:r>
          </a:p>
        </p:txBody>
      </p:sp>
    </p:spTree>
    <p:extLst>
      <p:ext uri="{BB962C8B-B14F-4D97-AF65-F5344CB8AC3E}">
        <p14:creationId xmlns:p14="http://schemas.microsoft.com/office/powerpoint/2010/main" val="40239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3" name="Date Placeholder 3">
            <a:extLst>
              <a:ext uri="{FF2B5EF4-FFF2-40B4-BE49-F238E27FC236}">
                <a16:creationId xmlns:a16="http://schemas.microsoft.com/office/drawing/2014/main" id="{501220CD-070C-7297-86E0-1F23B219C3B1}"/>
              </a:ext>
            </a:extLst>
          </p:cNvPr>
          <p:cNvSpPr>
            <a:spLocks noGrp="1"/>
          </p:cNvSpPr>
          <p:nvPr>
            <p:ph type="dt" sz="half" idx="10"/>
          </p:nvPr>
        </p:nvSpPr>
        <p:spPr/>
        <p:txBody>
          <a:bodyPr/>
          <a:lstStyle>
            <a:lvl1pPr>
              <a:defRPr/>
            </a:lvl1pPr>
          </a:lstStyle>
          <a:p>
            <a:pPr>
              <a:defRPr/>
            </a:pPr>
            <a:fld id="{6E03FEA0-19A7-4E2F-AB07-FBFBCC7B777A}" type="datetime1">
              <a:rPr lang="en-IN"/>
              <a:pPr>
                <a:defRPr/>
              </a:pPr>
              <a:t>04-10-2026</a:t>
            </a:fld>
            <a:endParaRPr lang="en-US" dirty="0"/>
          </a:p>
        </p:txBody>
      </p:sp>
      <p:sp>
        <p:nvSpPr>
          <p:cNvPr id="4" name="Slide Number Placeholder 5">
            <a:extLst>
              <a:ext uri="{FF2B5EF4-FFF2-40B4-BE49-F238E27FC236}">
                <a16:creationId xmlns:a16="http://schemas.microsoft.com/office/drawing/2014/main" id="{8C1C318C-BB8D-98AB-0654-C2AF5719C3D0}"/>
              </a:ext>
            </a:extLst>
          </p:cNvPr>
          <p:cNvSpPr>
            <a:spLocks noGrp="1"/>
          </p:cNvSpPr>
          <p:nvPr>
            <p:ph type="sldNum" sz="quarter" idx="11"/>
          </p:nvPr>
        </p:nvSpPr>
        <p:spPr/>
        <p:txBody>
          <a:bodyPr/>
          <a:lstStyle>
            <a:lvl1pPr>
              <a:defRPr/>
            </a:lvl1pPr>
          </a:lstStyle>
          <a:p>
            <a:pPr>
              <a:defRPr/>
            </a:pPr>
            <a:fld id="{E1E71132-53A5-4517-A94C-2EAB0ACECE64}" type="slidenum">
              <a:rPr lang="en-US" altLang="en-US"/>
              <a:pPr>
                <a:defRPr/>
              </a:pPr>
              <a:t>‹#›</a:t>
            </a:fld>
            <a:endParaRPr lang="en-US" altLang="en-US"/>
          </a:p>
        </p:txBody>
      </p:sp>
      <p:sp>
        <p:nvSpPr>
          <p:cNvPr id="5" name="Footer Placeholder 4">
            <a:extLst>
              <a:ext uri="{FF2B5EF4-FFF2-40B4-BE49-F238E27FC236}">
                <a16:creationId xmlns:a16="http://schemas.microsoft.com/office/drawing/2014/main" id="{FF27A0FE-A4A6-AAA0-F130-1A6621941B1D}"/>
              </a:ext>
            </a:extLst>
          </p:cNvPr>
          <p:cNvSpPr>
            <a:spLocks noGrp="1"/>
          </p:cNvSpPr>
          <p:nvPr>
            <p:ph type="ftr" sz="quarter" idx="12"/>
          </p:nvPr>
        </p:nvSpPr>
        <p:spPr/>
        <p:txBody>
          <a:bodyPr/>
          <a:lstStyle>
            <a:lvl1pPr>
              <a:defRPr/>
            </a:lvl1pPr>
          </a:lstStyle>
          <a:p>
            <a:pPr>
              <a:defRPr/>
            </a:pPr>
            <a:r>
              <a:rPr lang="en-US"/>
              <a:t>International Institute of Information Technology, </a:t>
            </a:r>
            <a:r>
              <a:rPr lang="en-US" err="1"/>
              <a:t>Naya</a:t>
            </a:r>
            <a:r>
              <a:rPr lang="en-US"/>
              <a:t> Raipur</a:t>
            </a:r>
          </a:p>
        </p:txBody>
      </p:sp>
    </p:spTree>
    <p:extLst>
      <p:ext uri="{BB962C8B-B14F-4D97-AF65-F5344CB8AC3E}">
        <p14:creationId xmlns:p14="http://schemas.microsoft.com/office/powerpoint/2010/main" val="4086290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solidFill>
                  <a:srgbClr val="002060"/>
                </a:solidFill>
              </a:defRPr>
            </a:lvl1pPr>
            <a:lvl2pPr>
              <a:defRPr sz="2800">
                <a:solidFill>
                  <a:srgbClr val="002060"/>
                </a:solidFill>
              </a:defRPr>
            </a:lvl2pPr>
            <a:lvl3pPr>
              <a:defRPr sz="2400">
                <a:solidFill>
                  <a:srgbClr val="002060"/>
                </a:solidFill>
              </a:defRPr>
            </a:lvl3pPr>
            <a:lvl4pPr>
              <a:defRPr sz="2000">
                <a:solidFill>
                  <a:srgbClr val="002060"/>
                </a:solidFill>
              </a:defRPr>
            </a:lvl4pPr>
            <a:lvl5pPr>
              <a:defRPr sz="2000">
                <a:solidFill>
                  <a:srgbClr val="002060"/>
                </a:solidFill>
              </a:defRPr>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solidFill>
                  <a:srgbClr val="002060"/>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3">
            <a:extLst>
              <a:ext uri="{FF2B5EF4-FFF2-40B4-BE49-F238E27FC236}">
                <a16:creationId xmlns:a16="http://schemas.microsoft.com/office/drawing/2014/main" id="{D4508A36-03FA-FEC9-FD5E-BB86EC601CAC}"/>
              </a:ext>
            </a:extLst>
          </p:cNvPr>
          <p:cNvSpPr>
            <a:spLocks noGrp="1"/>
          </p:cNvSpPr>
          <p:nvPr>
            <p:ph type="dt" sz="half" idx="10"/>
          </p:nvPr>
        </p:nvSpPr>
        <p:spPr/>
        <p:txBody>
          <a:bodyPr/>
          <a:lstStyle>
            <a:lvl1pPr>
              <a:defRPr/>
            </a:lvl1pPr>
          </a:lstStyle>
          <a:p>
            <a:pPr>
              <a:defRPr/>
            </a:pPr>
            <a:fld id="{B05F7C1F-9D58-42DF-8127-D5E2BCAF35DD}" type="datetime1">
              <a:rPr lang="en-IN"/>
              <a:pPr>
                <a:defRPr/>
              </a:pPr>
              <a:t>04-10-2026</a:t>
            </a:fld>
            <a:endParaRPr lang="en-US" dirty="0"/>
          </a:p>
        </p:txBody>
      </p:sp>
      <p:sp>
        <p:nvSpPr>
          <p:cNvPr id="6" name="Slide Number Placeholder 5">
            <a:extLst>
              <a:ext uri="{FF2B5EF4-FFF2-40B4-BE49-F238E27FC236}">
                <a16:creationId xmlns:a16="http://schemas.microsoft.com/office/drawing/2014/main" id="{411E48A5-D689-AD6E-BFCD-748733F90000}"/>
              </a:ext>
            </a:extLst>
          </p:cNvPr>
          <p:cNvSpPr>
            <a:spLocks noGrp="1"/>
          </p:cNvSpPr>
          <p:nvPr>
            <p:ph type="sldNum" sz="quarter" idx="11"/>
          </p:nvPr>
        </p:nvSpPr>
        <p:spPr/>
        <p:txBody>
          <a:bodyPr/>
          <a:lstStyle>
            <a:lvl1pPr>
              <a:defRPr/>
            </a:lvl1pPr>
          </a:lstStyle>
          <a:p>
            <a:pPr>
              <a:defRPr/>
            </a:pPr>
            <a:fld id="{AF0D4C73-7BCA-4D69-9807-F0711B4F3ACF}" type="slidenum">
              <a:rPr lang="en-US" altLang="en-US"/>
              <a:pPr>
                <a:defRPr/>
              </a:pPr>
              <a:t>‹#›</a:t>
            </a:fld>
            <a:endParaRPr lang="en-US" altLang="en-US"/>
          </a:p>
        </p:txBody>
      </p:sp>
      <p:sp>
        <p:nvSpPr>
          <p:cNvPr id="7" name="Footer Placeholder 4">
            <a:extLst>
              <a:ext uri="{FF2B5EF4-FFF2-40B4-BE49-F238E27FC236}">
                <a16:creationId xmlns:a16="http://schemas.microsoft.com/office/drawing/2014/main" id="{843A8893-4227-6484-8F80-2A6DD074439B}"/>
              </a:ext>
            </a:extLst>
          </p:cNvPr>
          <p:cNvSpPr>
            <a:spLocks noGrp="1"/>
          </p:cNvSpPr>
          <p:nvPr>
            <p:ph type="ftr" sz="quarter" idx="12"/>
          </p:nvPr>
        </p:nvSpPr>
        <p:spPr/>
        <p:txBody>
          <a:bodyPr/>
          <a:lstStyle>
            <a:lvl1pPr>
              <a:defRPr/>
            </a:lvl1pPr>
          </a:lstStyle>
          <a:p>
            <a:pPr>
              <a:defRPr/>
            </a:pPr>
            <a:r>
              <a:rPr lang="en-US"/>
              <a:t>International Institute of Information Technology, </a:t>
            </a:r>
            <a:r>
              <a:rPr lang="en-US" err="1"/>
              <a:t>Naya</a:t>
            </a:r>
            <a:r>
              <a:rPr lang="en-US"/>
              <a:t> Raipur</a:t>
            </a:r>
          </a:p>
        </p:txBody>
      </p:sp>
    </p:spTree>
    <p:extLst>
      <p:ext uri="{BB962C8B-B14F-4D97-AF65-F5344CB8AC3E}">
        <p14:creationId xmlns:p14="http://schemas.microsoft.com/office/powerpoint/2010/main" val="2698177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solidFill>
                  <a:srgbClr val="002060"/>
                </a:solidFill>
              </a:defRPr>
            </a:lvl1pPr>
          </a:lstStyle>
          <a:p>
            <a:r>
              <a:rPr lang="en-US" dirty="0"/>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solidFill>
                  <a:srgbClr val="002060"/>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3">
            <a:extLst>
              <a:ext uri="{FF2B5EF4-FFF2-40B4-BE49-F238E27FC236}">
                <a16:creationId xmlns:a16="http://schemas.microsoft.com/office/drawing/2014/main" id="{0939F56E-A7E4-2CED-C5F4-F2107D8C797F}"/>
              </a:ext>
            </a:extLst>
          </p:cNvPr>
          <p:cNvSpPr>
            <a:spLocks noGrp="1"/>
          </p:cNvSpPr>
          <p:nvPr>
            <p:ph type="dt" sz="half" idx="10"/>
          </p:nvPr>
        </p:nvSpPr>
        <p:spPr/>
        <p:txBody>
          <a:bodyPr/>
          <a:lstStyle>
            <a:lvl1pPr>
              <a:defRPr/>
            </a:lvl1pPr>
          </a:lstStyle>
          <a:p>
            <a:pPr>
              <a:defRPr/>
            </a:pPr>
            <a:fld id="{E86D4257-CEB4-49EC-9CF1-FF48E01EF739}" type="datetime1">
              <a:rPr lang="en-IN"/>
              <a:pPr>
                <a:defRPr/>
              </a:pPr>
              <a:t>04-10-2026</a:t>
            </a:fld>
            <a:endParaRPr lang="en-US" dirty="0"/>
          </a:p>
        </p:txBody>
      </p:sp>
      <p:sp>
        <p:nvSpPr>
          <p:cNvPr id="6" name="Slide Number Placeholder 5">
            <a:extLst>
              <a:ext uri="{FF2B5EF4-FFF2-40B4-BE49-F238E27FC236}">
                <a16:creationId xmlns:a16="http://schemas.microsoft.com/office/drawing/2014/main" id="{292052A2-482A-7FF9-6F50-0CCCE4F4202F}"/>
              </a:ext>
            </a:extLst>
          </p:cNvPr>
          <p:cNvSpPr>
            <a:spLocks noGrp="1"/>
          </p:cNvSpPr>
          <p:nvPr>
            <p:ph type="sldNum" sz="quarter" idx="11"/>
          </p:nvPr>
        </p:nvSpPr>
        <p:spPr/>
        <p:txBody>
          <a:bodyPr/>
          <a:lstStyle>
            <a:lvl1pPr>
              <a:defRPr/>
            </a:lvl1pPr>
          </a:lstStyle>
          <a:p>
            <a:pPr>
              <a:defRPr/>
            </a:pPr>
            <a:fld id="{BBFAEFDD-D3E5-476C-AD06-3385E9C9A9B6}" type="slidenum">
              <a:rPr lang="en-US" altLang="en-US"/>
              <a:pPr>
                <a:defRPr/>
              </a:pPr>
              <a:t>‹#›</a:t>
            </a:fld>
            <a:endParaRPr lang="en-US" altLang="en-US"/>
          </a:p>
        </p:txBody>
      </p:sp>
      <p:sp>
        <p:nvSpPr>
          <p:cNvPr id="7" name="Footer Placeholder 4">
            <a:extLst>
              <a:ext uri="{FF2B5EF4-FFF2-40B4-BE49-F238E27FC236}">
                <a16:creationId xmlns:a16="http://schemas.microsoft.com/office/drawing/2014/main" id="{9E51B22C-331A-D8F9-4C07-1B4F6E0634A6}"/>
              </a:ext>
            </a:extLst>
          </p:cNvPr>
          <p:cNvSpPr>
            <a:spLocks noGrp="1"/>
          </p:cNvSpPr>
          <p:nvPr>
            <p:ph type="ftr" sz="quarter" idx="12"/>
          </p:nvPr>
        </p:nvSpPr>
        <p:spPr/>
        <p:txBody>
          <a:bodyPr/>
          <a:lstStyle>
            <a:lvl1pPr>
              <a:defRPr/>
            </a:lvl1pPr>
          </a:lstStyle>
          <a:p>
            <a:pPr>
              <a:defRPr/>
            </a:pPr>
            <a:r>
              <a:rPr lang="en-US"/>
              <a:t>International Institute of Information Technology, </a:t>
            </a:r>
            <a:r>
              <a:rPr lang="en-US" err="1"/>
              <a:t>Naya</a:t>
            </a:r>
            <a:r>
              <a:rPr lang="en-US"/>
              <a:t> Raipur</a:t>
            </a:r>
          </a:p>
        </p:txBody>
      </p:sp>
    </p:spTree>
    <p:extLst>
      <p:ext uri="{BB962C8B-B14F-4D97-AF65-F5344CB8AC3E}">
        <p14:creationId xmlns:p14="http://schemas.microsoft.com/office/powerpoint/2010/main" val="4164447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2060"/>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F070677-4211-7D21-66CF-70E0332ABB9E}"/>
              </a:ext>
            </a:extLst>
          </p:cNvPr>
          <p:cNvSpPr>
            <a:spLocks noGrp="1"/>
          </p:cNvSpPr>
          <p:nvPr>
            <p:ph type="dt" sz="half" idx="10"/>
          </p:nvPr>
        </p:nvSpPr>
        <p:spPr/>
        <p:txBody>
          <a:bodyPr/>
          <a:lstStyle>
            <a:lvl1pPr>
              <a:defRPr/>
            </a:lvl1pPr>
          </a:lstStyle>
          <a:p>
            <a:pPr>
              <a:defRPr/>
            </a:pPr>
            <a:fld id="{DF76C787-7CAC-4872-9C29-731DEAAA117F}" type="datetime1">
              <a:rPr lang="en-IN"/>
              <a:pPr>
                <a:defRPr/>
              </a:pPr>
              <a:t>04-10-2026</a:t>
            </a:fld>
            <a:endParaRPr lang="en-US" dirty="0"/>
          </a:p>
        </p:txBody>
      </p:sp>
      <p:sp>
        <p:nvSpPr>
          <p:cNvPr id="5" name="Slide Number Placeholder 5">
            <a:extLst>
              <a:ext uri="{FF2B5EF4-FFF2-40B4-BE49-F238E27FC236}">
                <a16:creationId xmlns:a16="http://schemas.microsoft.com/office/drawing/2014/main" id="{7C21DBCA-C484-114C-6999-F055A310AD8D}"/>
              </a:ext>
            </a:extLst>
          </p:cNvPr>
          <p:cNvSpPr>
            <a:spLocks noGrp="1"/>
          </p:cNvSpPr>
          <p:nvPr>
            <p:ph type="sldNum" sz="quarter" idx="11"/>
          </p:nvPr>
        </p:nvSpPr>
        <p:spPr/>
        <p:txBody>
          <a:bodyPr/>
          <a:lstStyle>
            <a:lvl1pPr>
              <a:defRPr/>
            </a:lvl1pPr>
          </a:lstStyle>
          <a:p>
            <a:pPr>
              <a:defRPr/>
            </a:pPr>
            <a:fld id="{64589377-FE0F-43A5-80CF-EC39B9794BA6}" type="slidenum">
              <a:rPr lang="en-US" altLang="en-US"/>
              <a:pPr>
                <a:defRPr/>
              </a:pPr>
              <a:t>‹#›</a:t>
            </a:fld>
            <a:endParaRPr lang="en-US" altLang="en-US"/>
          </a:p>
        </p:txBody>
      </p:sp>
      <p:sp>
        <p:nvSpPr>
          <p:cNvPr id="6" name="Footer Placeholder 4">
            <a:extLst>
              <a:ext uri="{FF2B5EF4-FFF2-40B4-BE49-F238E27FC236}">
                <a16:creationId xmlns:a16="http://schemas.microsoft.com/office/drawing/2014/main" id="{6073E46B-6D48-8ADF-7619-7446D0F3FF69}"/>
              </a:ext>
            </a:extLst>
          </p:cNvPr>
          <p:cNvSpPr>
            <a:spLocks noGrp="1"/>
          </p:cNvSpPr>
          <p:nvPr>
            <p:ph type="ftr" sz="quarter" idx="12"/>
          </p:nvPr>
        </p:nvSpPr>
        <p:spPr/>
        <p:txBody>
          <a:bodyPr/>
          <a:lstStyle>
            <a:lvl1pPr>
              <a:defRPr/>
            </a:lvl1pPr>
          </a:lstStyle>
          <a:p>
            <a:pPr>
              <a:defRPr/>
            </a:pPr>
            <a:r>
              <a:rPr lang="en-US"/>
              <a:t>International Institute of Information Technology, </a:t>
            </a:r>
            <a:r>
              <a:rPr lang="en-US" err="1"/>
              <a:t>Naya</a:t>
            </a:r>
            <a:r>
              <a:rPr lang="en-US"/>
              <a:t> Raipur</a:t>
            </a:r>
          </a:p>
        </p:txBody>
      </p:sp>
    </p:spTree>
    <p:extLst>
      <p:ext uri="{BB962C8B-B14F-4D97-AF65-F5344CB8AC3E}">
        <p14:creationId xmlns:p14="http://schemas.microsoft.com/office/powerpoint/2010/main" val="40917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lvl1pPr>
              <a:defRPr>
                <a:solidFill>
                  <a:srgbClr val="002060"/>
                </a:solidFill>
              </a:defRPr>
            </a:lvl1pPr>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CEAAA97-75C9-65EB-1D39-0EC7A67E09E2}"/>
              </a:ext>
            </a:extLst>
          </p:cNvPr>
          <p:cNvSpPr>
            <a:spLocks noGrp="1"/>
          </p:cNvSpPr>
          <p:nvPr>
            <p:ph type="dt" sz="half" idx="10"/>
          </p:nvPr>
        </p:nvSpPr>
        <p:spPr/>
        <p:txBody>
          <a:bodyPr/>
          <a:lstStyle>
            <a:lvl1pPr>
              <a:defRPr/>
            </a:lvl1pPr>
          </a:lstStyle>
          <a:p>
            <a:pPr>
              <a:defRPr/>
            </a:pPr>
            <a:fld id="{D80E045E-61EA-424C-A621-70324E9FA1D7}" type="datetime1">
              <a:rPr lang="en-IN"/>
              <a:pPr>
                <a:defRPr/>
              </a:pPr>
              <a:t>04-10-2026</a:t>
            </a:fld>
            <a:endParaRPr lang="en-US" dirty="0"/>
          </a:p>
        </p:txBody>
      </p:sp>
      <p:sp>
        <p:nvSpPr>
          <p:cNvPr id="5" name="Slide Number Placeholder 5">
            <a:extLst>
              <a:ext uri="{FF2B5EF4-FFF2-40B4-BE49-F238E27FC236}">
                <a16:creationId xmlns:a16="http://schemas.microsoft.com/office/drawing/2014/main" id="{3B1EA4B2-D123-5DDE-55A7-07A0C9A63D2D}"/>
              </a:ext>
            </a:extLst>
          </p:cNvPr>
          <p:cNvSpPr>
            <a:spLocks noGrp="1"/>
          </p:cNvSpPr>
          <p:nvPr>
            <p:ph type="sldNum" sz="quarter" idx="11"/>
          </p:nvPr>
        </p:nvSpPr>
        <p:spPr/>
        <p:txBody>
          <a:bodyPr/>
          <a:lstStyle>
            <a:lvl1pPr>
              <a:defRPr/>
            </a:lvl1pPr>
          </a:lstStyle>
          <a:p>
            <a:pPr>
              <a:defRPr/>
            </a:pPr>
            <a:fld id="{B9A84CEE-79CA-4BF3-81ED-838E1730B5DD}" type="slidenum">
              <a:rPr lang="en-US" altLang="en-US"/>
              <a:pPr>
                <a:defRPr/>
              </a:pPr>
              <a:t>‹#›</a:t>
            </a:fld>
            <a:endParaRPr lang="en-US" altLang="en-US"/>
          </a:p>
        </p:txBody>
      </p:sp>
      <p:sp>
        <p:nvSpPr>
          <p:cNvPr id="6" name="Footer Placeholder 4">
            <a:extLst>
              <a:ext uri="{FF2B5EF4-FFF2-40B4-BE49-F238E27FC236}">
                <a16:creationId xmlns:a16="http://schemas.microsoft.com/office/drawing/2014/main" id="{D0FF5E11-4194-40D3-1506-2953464EF602}"/>
              </a:ext>
            </a:extLst>
          </p:cNvPr>
          <p:cNvSpPr>
            <a:spLocks noGrp="1"/>
          </p:cNvSpPr>
          <p:nvPr>
            <p:ph type="ftr" sz="quarter" idx="12"/>
          </p:nvPr>
        </p:nvSpPr>
        <p:spPr/>
        <p:txBody>
          <a:bodyPr/>
          <a:lstStyle>
            <a:lvl1pPr>
              <a:defRPr/>
            </a:lvl1pPr>
          </a:lstStyle>
          <a:p>
            <a:pPr>
              <a:defRPr/>
            </a:pPr>
            <a:r>
              <a:rPr lang="en-US"/>
              <a:t>International Institute of Information Technology, </a:t>
            </a:r>
            <a:r>
              <a:rPr lang="en-US" err="1"/>
              <a:t>Naya</a:t>
            </a:r>
            <a:r>
              <a:rPr lang="en-US"/>
              <a:t> Raipur</a:t>
            </a:r>
          </a:p>
        </p:txBody>
      </p:sp>
    </p:spTree>
    <p:extLst>
      <p:ext uri="{BB962C8B-B14F-4D97-AF65-F5344CB8AC3E}">
        <p14:creationId xmlns:p14="http://schemas.microsoft.com/office/powerpoint/2010/main" val="3740930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hthoek 19">
            <a:extLst>
              <a:ext uri="{FF2B5EF4-FFF2-40B4-BE49-F238E27FC236}">
                <a16:creationId xmlns:a16="http://schemas.microsoft.com/office/drawing/2014/main" id="{689E3820-86A7-2D61-DE09-4657F75ABC63}"/>
              </a:ext>
            </a:extLst>
          </p:cNvPr>
          <p:cNvSpPr/>
          <p:nvPr userDrawn="1"/>
        </p:nvSpPr>
        <p:spPr bwMode="auto">
          <a:xfrm>
            <a:off x="0" y="6465888"/>
            <a:ext cx="12192000" cy="404812"/>
          </a:xfrm>
          <a:prstGeom prst="rect">
            <a:avLst/>
          </a:prstGeom>
          <a:solidFill>
            <a:srgbClr val="0C2577"/>
          </a:solidFill>
          <a:ln>
            <a:noFill/>
          </a:ln>
          <a:effectLst/>
        </p:spPr>
        <p:txBody>
          <a:bodyPr lIns="68544" tIns="34272" rIns="68544" bIns="34272"/>
          <a:lstStyle/>
          <a:p>
            <a:pPr defTabSz="685434" eaLnBrk="1" hangingPunct="1">
              <a:lnSpc>
                <a:spcPct val="95000"/>
              </a:lnSpc>
              <a:buFont typeface="Arial" charset="0"/>
              <a:buNone/>
              <a:defRPr/>
            </a:pPr>
            <a:endParaRPr lang="en-US" sz="1499" kern="0" dirty="0">
              <a:solidFill>
                <a:srgbClr val="FFFFFF"/>
              </a:solidFill>
              <a:latin typeface="Minion" pitchFamily="2" charset="0"/>
            </a:endParaRPr>
          </a:p>
        </p:txBody>
      </p:sp>
      <p:sp>
        <p:nvSpPr>
          <p:cNvPr id="1027" name="Title Placeholder 1">
            <a:extLst>
              <a:ext uri="{FF2B5EF4-FFF2-40B4-BE49-F238E27FC236}">
                <a16:creationId xmlns:a16="http://schemas.microsoft.com/office/drawing/2014/main" id="{B40FCF27-292E-39D2-5F97-EA8715E77EC8}"/>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a:extLst>
              <a:ext uri="{FF2B5EF4-FFF2-40B4-BE49-F238E27FC236}">
                <a16:creationId xmlns:a16="http://schemas.microsoft.com/office/drawing/2014/main" id="{950C8A59-13DD-479B-DF47-7D932852005C}"/>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D8CF86B-CD6F-F4A5-549C-1302F66FC6F1}"/>
              </a:ext>
            </a:extLst>
          </p:cNvPr>
          <p:cNvSpPr>
            <a:spLocks noGrp="1"/>
          </p:cNvSpPr>
          <p:nvPr>
            <p:ph type="dt" sz="half" idx="2"/>
          </p:nvPr>
        </p:nvSpPr>
        <p:spPr>
          <a:xfrm>
            <a:off x="266700" y="6518275"/>
            <a:ext cx="2209800" cy="300038"/>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bg1"/>
                </a:solidFill>
                <a:latin typeface="+mn-lt"/>
              </a:defRPr>
            </a:lvl1pPr>
          </a:lstStyle>
          <a:p>
            <a:pPr>
              <a:defRPr/>
            </a:pPr>
            <a:fld id="{02ADA06B-5220-4F5D-943B-96E8E75DA296}" type="datetime1">
              <a:rPr lang="en-IN"/>
              <a:pPr>
                <a:defRPr/>
              </a:pPr>
              <a:t>04-10-2026</a:t>
            </a:fld>
            <a:endParaRPr lang="en-US" dirty="0"/>
          </a:p>
        </p:txBody>
      </p:sp>
      <p:sp>
        <p:nvSpPr>
          <p:cNvPr id="6" name="Slide Number Placeholder 5">
            <a:extLst>
              <a:ext uri="{FF2B5EF4-FFF2-40B4-BE49-F238E27FC236}">
                <a16:creationId xmlns:a16="http://schemas.microsoft.com/office/drawing/2014/main" id="{0D1DDDBC-9F33-49AB-1AB9-83A01A89EE87}"/>
              </a:ext>
            </a:extLst>
          </p:cNvPr>
          <p:cNvSpPr>
            <a:spLocks noGrp="1"/>
          </p:cNvSpPr>
          <p:nvPr>
            <p:ph type="sldNum" sz="quarter" idx="4"/>
          </p:nvPr>
        </p:nvSpPr>
        <p:spPr>
          <a:xfrm>
            <a:off x="9607550" y="6453188"/>
            <a:ext cx="1979613"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chemeClr val="bg1"/>
                </a:solidFill>
              </a:defRPr>
            </a:lvl1pPr>
          </a:lstStyle>
          <a:p>
            <a:pPr>
              <a:defRPr/>
            </a:pPr>
            <a:fld id="{9056B8F1-9B9A-4340-8B36-1D7A1C6C1DAA}" type="slidenum">
              <a:rPr lang="en-US" altLang="en-US"/>
              <a:pPr>
                <a:defRPr/>
              </a:pPr>
              <a:t>‹#›</a:t>
            </a:fld>
            <a:endParaRPr lang="en-US" altLang="en-US"/>
          </a:p>
        </p:txBody>
      </p:sp>
      <p:pic>
        <p:nvPicPr>
          <p:cNvPr id="1031" name="Picture 8">
            <a:extLst>
              <a:ext uri="{FF2B5EF4-FFF2-40B4-BE49-F238E27FC236}">
                <a16:creationId xmlns:a16="http://schemas.microsoft.com/office/drawing/2014/main" id="{EB48D8B4-BC46-690B-60BA-03D04303D64C}"/>
              </a:ext>
            </a:extLst>
          </p:cNvPr>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10623550" y="230188"/>
            <a:ext cx="14605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a:extLst>
              <a:ext uri="{FF2B5EF4-FFF2-40B4-BE49-F238E27FC236}">
                <a16:creationId xmlns:a16="http://schemas.microsoft.com/office/drawing/2014/main" id="{7FA8EB05-2A82-1273-2BEA-9751968F0359}"/>
              </a:ext>
            </a:extLst>
          </p:cNvPr>
          <p:cNvSpPr>
            <a:spLocks noGrp="1"/>
          </p:cNvSpPr>
          <p:nvPr>
            <p:ph type="ftr" sz="quarter" idx="3"/>
          </p:nvPr>
        </p:nvSpPr>
        <p:spPr>
          <a:xfrm>
            <a:off x="2859088" y="6492875"/>
            <a:ext cx="6597650" cy="365125"/>
          </a:xfrm>
          <a:prstGeom prst="rect">
            <a:avLst/>
          </a:prstGeom>
        </p:spPr>
        <p:txBody>
          <a:bodyPr vert="horz" lIns="91440" tIns="45720" rIns="91440" bIns="45720" rtlCol="0" anchor="ctr"/>
          <a:lstStyle>
            <a:lvl1pPr algn="ctr" eaLnBrk="1" fontAlgn="auto" hangingPunct="1">
              <a:spcBef>
                <a:spcPts val="0"/>
              </a:spcBef>
              <a:spcAft>
                <a:spcPts val="0"/>
              </a:spcAft>
              <a:defRPr sz="1400" b="0" i="0">
                <a:solidFill>
                  <a:schemeClr val="bg1"/>
                </a:solidFill>
                <a:latin typeface="Georgia" panose="02040502050405020303" pitchFamily="18" charset="0"/>
              </a:defRPr>
            </a:lvl1pPr>
          </a:lstStyle>
          <a:p>
            <a:pPr>
              <a:defRPr/>
            </a:pPr>
            <a:r>
              <a:rPr lang="en-US"/>
              <a:t>International Institute of Information Technology, </a:t>
            </a:r>
            <a:r>
              <a:rPr lang="en-US" err="1"/>
              <a:t>Naya</a:t>
            </a:r>
            <a:r>
              <a:rPr lang="en-US"/>
              <a:t> Raipur</a:t>
            </a:r>
          </a:p>
        </p:txBody>
      </p:sp>
    </p:spTree>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55" r:id="rId4"/>
    <p:sldLayoutId id="2147483756" r:id="rId5"/>
    <p:sldLayoutId id="2147483757" r:id="rId6"/>
    <p:sldLayoutId id="2147483758" r:id="rId7"/>
    <p:sldLayoutId id="2147483759" r:id="rId8"/>
    <p:sldLayoutId id="2147483760" r:id="rId9"/>
    <p:sldLayoutId id="2147483761" r:id="rId10"/>
  </p:sldLayoutIdLst>
  <p:hf hdr="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Placeholder 5">
            <a:extLst>
              <a:ext uri="{FF2B5EF4-FFF2-40B4-BE49-F238E27FC236}">
                <a16:creationId xmlns:a16="http://schemas.microsoft.com/office/drawing/2014/main" id="{B667AB88-71F1-7202-B0A7-68FB352F6CB7}"/>
              </a:ext>
            </a:extLst>
          </p:cNvPr>
          <p:cNvSpPr>
            <a:spLocks noGrp="1" noChangeArrowheads="1"/>
          </p:cNvSpPr>
          <p:nvPr>
            <p:ph type="body" sz="quarter" idx="13"/>
          </p:nvPr>
        </p:nvSpPr>
        <p:spPr>
          <a:xfrm>
            <a:off x="0" y="3509963"/>
            <a:ext cx="12192000" cy="1011237"/>
          </a:xfrm>
        </p:spPr>
        <p:txBody>
          <a:bodyPr/>
          <a:lstStyle/>
          <a:p>
            <a:pPr eaLnBrk="1" hangingPunct="1"/>
            <a:endParaRPr lang="en-US" altLang="en-US"/>
          </a:p>
        </p:txBody>
      </p:sp>
      <p:sp>
        <p:nvSpPr>
          <p:cNvPr id="6147" name="Title 3">
            <a:extLst>
              <a:ext uri="{FF2B5EF4-FFF2-40B4-BE49-F238E27FC236}">
                <a16:creationId xmlns:a16="http://schemas.microsoft.com/office/drawing/2014/main" id="{32DC4BE8-A8E9-5720-8C64-2AFB50C08EDC}"/>
              </a:ext>
            </a:extLst>
          </p:cNvPr>
          <p:cNvSpPr>
            <a:spLocks noGrp="1" noChangeArrowheads="1"/>
          </p:cNvSpPr>
          <p:nvPr>
            <p:ph type="ctrTitle"/>
          </p:nvPr>
        </p:nvSpPr>
        <p:spPr/>
        <p:txBody>
          <a:bodyPr/>
          <a:lstStyle/>
          <a:p>
            <a:pPr eaLnBrk="1" hangingPunct="1"/>
            <a:r>
              <a:rPr lang="en-US" altLang="en-US"/>
              <a:t>OpenCAI: Open Cloud AI</a:t>
            </a:r>
          </a:p>
        </p:txBody>
      </p:sp>
      <p:sp>
        <p:nvSpPr>
          <p:cNvPr id="6148" name="Subtitle 4">
            <a:extLst>
              <a:ext uri="{FF2B5EF4-FFF2-40B4-BE49-F238E27FC236}">
                <a16:creationId xmlns:a16="http://schemas.microsoft.com/office/drawing/2014/main" id="{FD9509FD-EED3-D6F1-1D0E-59540351D94D}"/>
              </a:ext>
            </a:extLst>
          </p:cNvPr>
          <p:cNvSpPr>
            <a:spLocks noGrp="1" noChangeArrowheads="1"/>
          </p:cNvSpPr>
          <p:nvPr>
            <p:ph type="subTitle" idx="1"/>
          </p:nvPr>
        </p:nvSpPr>
        <p:spPr>
          <a:xfrm>
            <a:off x="381000" y="3987800"/>
            <a:ext cx="7112000" cy="431800"/>
          </a:xfrm>
        </p:spPr>
        <p:txBody>
          <a:bodyPr>
            <a:noAutofit/>
          </a:bodyPr>
          <a:lstStyle/>
          <a:p>
            <a:pPr defTabSz="684213" fontAlgn="base"/>
            <a:r>
              <a:rPr lang="en-US" altLang="en-US" sz="2000">
                <a:solidFill>
                  <a:srgbClr val="002060"/>
                </a:solidFill>
              </a:rPr>
              <a:t>Supervisor name: Dr. Ramakrishna Bandi</a:t>
            </a:r>
          </a:p>
        </p:txBody>
      </p:sp>
      <p:sp>
        <p:nvSpPr>
          <p:cNvPr id="6149" name="TextBox 8">
            <a:extLst>
              <a:ext uri="{FF2B5EF4-FFF2-40B4-BE49-F238E27FC236}">
                <a16:creationId xmlns:a16="http://schemas.microsoft.com/office/drawing/2014/main" id="{C872EC27-7D3F-3672-C5F9-151BB4DCAF63}"/>
              </a:ext>
            </a:extLst>
          </p:cNvPr>
          <p:cNvSpPr txBox="1">
            <a:spLocks noChangeArrowheads="1"/>
          </p:cNvSpPr>
          <p:nvPr/>
        </p:nvSpPr>
        <p:spPr bwMode="auto">
          <a:xfrm>
            <a:off x="7874000" y="3987800"/>
            <a:ext cx="3937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ct val="0"/>
              </a:spcBef>
              <a:buFontTx/>
              <a:buNone/>
            </a:pPr>
            <a:r>
              <a:rPr lang="en-US" altLang="en-US" sz="2000">
                <a:solidFill>
                  <a:schemeClr val="bg1"/>
                </a:solidFill>
                <a:latin typeface="Georgia" panose="02040502050405020303" pitchFamily="18" charset="0"/>
              </a:rPr>
              <a:t>Date: 4th October, 2026</a:t>
            </a:r>
          </a:p>
        </p:txBody>
      </p:sp>
      <p:sp>
        <p:nvSpPr>
          <p:cNvPr id="6150" name="Footer Placeholder 9">
            <a:extLst>
              <a:ext uri="{FF2B5EF4-FFF2-40B4-BE49-F238E27FC236}">
                <a16:creationId xmlns:a16="http://schemas.microsoft.com/office/drawing/2014/main" id="{8AFE1D0B-6231-0E8A-C5E5-25AA30A0BAAD}"/>
              </a:ext>
            </a:extLst>
          </p:cNvPr>
          <p:cNvSpPr txBox="1">
            <a:spLocks noChangeArrowheads="1"/>
          </p:cNvSpPr>
          <p:nvPr/>
        </p:nvSpPr>
        <p:spPr bwMode="auto">
          <a:xfrm>
            <a:off x="3009900" y="6492875"/>
            <a:ext cx="60055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600">
                <a:solidFill>
                  <a:schemeClr val="bg1"/>
                </a:solidFill>
                <a:latin typeface="Georgia" panose="02040502050405020303" pitchFamily="18" charset="0"/>
              </a:rPr>
              <a:t>International Institute of Information Technology, Naya Raipur</a:t>
            </a:r>
          </a:p>
        </p:txBody>
      </p:sp>
      <p:sp>
        <p:nvSpPr>
          <p:cNvPr id="6151" name="Subtitle 4">
            <a:extLst>
              <a:ext uri="{FF2B5EF4-FFF2-40B4-BE49-F238E27FC236}">
                <a16:creationId xmlns:a16="http://schemas.microsoft.com/office/drawing/2014/main" id="{BEAC728A-DDB9-D426-20EB-3471DE72E928}"/>
              </a:ext>
            </a:extLst>
          </p:cNvPr>
          <p:cNvSpPr txBox="1">
            <a:spLocks noChangeArrowheads="1"/>
          </p:cNvSpPr>
          <p:nvPr/>
        </p:nvSpPr>
        <p:spPr bwMode="auto">
          <a:xfrm>
            <a:off x="381000" y="3543300"/>
            <a:ext cx="11430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defTabSz="6842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defTabSz="68421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8421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842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842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842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842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842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842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ts val="450"/>
              </a:spcBef>
              <a:spcAft>
                <a:spcPts val="450"/>
              </a:spcAft>
              <a:buClr>
                <a:srgbClr val="0C2577"/>
              </a:buClr>
              <a:buFont typeface="Arial" panose="020B0604020202020204" pitchFamily="34" charset="0"/>
              <a:buNone/>
            </a:pPr>
            <a:r>
              <a:rPr lang="en-US" altLang="en-US" sz="2000">
                <a:solidFill>
                  <a:schemeClr val="bg1"/>
                </a:solidFill>
                <a:latin typeface="Georgia" panose="02040502050405020303" pitchFamily="18" charset="0"/>
              </a:rPr>
              <a:t>Group Member name: Atharva Bedekar, Janay Bhanushali, Sanidhya Solanki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1">
            <a:extLst>
              <a:ext uri="{FF2B5EF4-FFF2-40B4-BE49-F238E27FC236}">
                <a16:creationId xmlns:a16="http://schemas.microsoft.com/office/drawing/2014/main" id="{07AA26B2-9895-9940-8563-63752D7F5B6E}"/>
              </a:ext>
            </a:extLst>
          </p:cNvPr>
          <p:cNvSpPr>
            <a:spLocks noGrp="1"/>
          </p:cNvSpPr>
          <p:nvPr>
            <p:ph idx="1"/>
          </p:nvPr>
        </p:nvSpPr>
        <p:spPr>
          <a:xfrm>
            <a:off x="838200" y="1530350"/>
            <a:ext cx="10515600" cy="4646613"/>
          </a:xfrm>
        </p:spPr>
        <p:txBody>
          <a:bodyPr wrap="square">
            <a:noAutofit/>
          </a:bodyPr>
          <a:lstStyle/>
          <a:p>
            <a:pPr>
              <a:lnSpc>
                <a:spcPct val="100000"/>
              </a:lnSpc>
              <a:spcBef>
                <a:spcPts val="0"/>
              </a:spcBef>
              <a:spcAft>
                <a:spcPts val="700"/>
              </a:spcAft>
              <a:defRPr/>
            </a:pPr>
            <a:r>
              <a:rPr lang="en-IN" altLang="en-US" sz="2200"/>
              <a:t>Introduction</a:t>
            </a:r>
          </a:p>
          <a:p>
            <a:pPr>
              <a:lnSpc>
                <a:spcPct val="100000"/>
              </a:lnSpc>
              <a:spcBef>
                <a:spcPts val="0"/>
              </a:spcBef>
              <a:spcAft>
                <a:spcPts val="700"/>
              </a:spcAft>
              <a:defRPr/>
            </a:pPr>
            <a:r>
              <a:rPr lang="en-IN" altLang="en-US" sz="2200"/>
              <a:t>Motivation: Issues and Challenges</a:t>
            </a:r>
          </a:p>
          <a:p>
            <a:pPr>
              <a:lnSpc>
                <a:spcPct val="100000"/>
              </a:lnSpc>
              <a:spcBef>
                <a:spcPts val="0"/>
              </a:spcBef>
              <a:spcAft>
                <a:spcPts val="700"/>
              </a:spcAft>
              <a:defRPr/>
            </a:pPr>
            <a:r>
              <a:rPr lang="en-IN" altLang="en-US" sz="2200"/>
              <a:t>Problem Definition</a:t>
            </a:r>
          </a:p>
          <a:p>
            <a:pPr>
              <a:lnSpc>
                <a:spcPct val="100000"/>
              </a:lnSpc>
              <a:spcBef>
                <a:spcPts val="0"/>
              </a:spcBef>
              <a:spcAft>
                <a:spcPts val="700"/>
              </a:spcAft>
              <a:defRPr/>
            </a:pPr>
            <a:r>
              <a:rPr lang="en-IN" altLang="en-US" sz="2200"/>
              <a:t>Research Gap</a:t>
            </a:r>
          </a:p>
          <a:p>
            <a:pPr>
              <a:lnSpc>
                <a:spcPct val="100000"/>
              </a:lnSpc>
              <a:spcBef>
                <a:spcPts val="0"/>
              </a:spcBef>
              <a:spcAft>
                <a:spcPts val="700"/>
              </a:spcAft>
              <a:defRPr/>
            </a:pPr>
            <a:r>
              <a:rPr lang="en-IN" altLang="en-US" sz="2200"/>
              <a:t>Objectives</a:t>
            </a:r>
          </a:p>
          <a:p>
            <a:pPr>
              <a:lnSpc>
                <a:spcPct val="100000"/>
              </a:lnSpc>
              <a:spcBef>
                <a:spcPts val="0"/>
              </a:spcBef>
              <a:spcAft>
                <a:spcPts val="700"/>
              </a:spcAft>
              <a:defRPr/>
            </a:pPr>
            <a:r>
              <a:rPr lang="en-IN" altLang="en-US" sz="2200"/>
              <a:t>Proposed Framework and Agent Execution Flow</a:t>
            </a:r>
          </a:p>
          <a:p>
            <a:pPr>
              <a:lnSpc>
                <a:spcPct val="100000"/>
              </a:lnSpc>
              <a:spcBef>
                <a:spcPts val="0"/>
              </a:spcBef>
              <a:spcAft>
                <a:spcPts val="700"/>
              </a:spcAft>
              <a:defRPr/>
            </a:pPr>
            <a:r>
              <a:rPr lang="en-IN" altLang="en-US" sz="2200"/>
              <a:t>Database Description</a:t>
            </a:r>
          </a:p>
          <a:p>
            <a:pPr>
              <a:lnSpc>
                <a:spcPct val="100000"/>
              </a:lnSpc>
              <a:spcBef>
                <a:spcPts val="0"/>
              </a:spcBef>
              <a:spcAft>
                <a:spcPts val="700"/>
              </a:spcAft>
              <a:defRPr/>
            </a:pPr>
            <a:r>
              <a:rPr lang="en-IN" altLang="en-US" sz="2200"/>
              <a:t>Experimental Results and Discussion</a:t>
            </a:r>
          </a:p>
          <a:p>
            <a:pPr>
              <a:lnSpc>
                <a:spcPct val="100000"/>
              </a:lnSpc>
              <a:spcBef>
                <a:spcPts val="0"/>
              </a:spcBef>
              <a:spcAft>
                <a:spcPts val="700"/>
              </a:spcAft>
              <a:defRPr/>
            </a:pPr>
            <a:r>
              <a:rPr lang="en-IN" altLang="en-US" sz="2200"/>
              <a:t>Conclusion and Future Directions</a:t>
            </a:r>
            <a:endParaRPr lang="en-IN" altLang="en-US" sz="2200" dirty="0"/>
          </a:p>
        </p:txBody>
      </p:sp>
      <p:sp>
        <p:nvSpPr>
          <p:cNvPr id="7171" name="Title 2">
            <a:extLst>
              <a:ext uri="{FF2B5EF4-FFF2-40B4-BE49-F238E27FC236}">
                <a16:creationId xmlns:a16="http://schemas.microsoft.com/office/drawing/2014/main" id="{87BE29B9-44F8-698A-6545-B45EED998C2A}"/>
              </a:ext>
            </a:extLst>
          </p:cNvPr>
          <p:cNvSpPr>
            <a:spLocks noGrp="1" noChangeArrowheads="1"/>
          </p:cNvSpPr>
          <p:nvPr>
            <p:ph type="title"/>
          </p:nvPr>
        </p:nvSpPr>
        <p:spPr>
          <a:xfrm>
            <a:off x="838200" y="365125"/>
            <a:ext cx="10515600" cy="1044575"/>
          </a:xfrm>
        </p:spPr>
        <p:txBody>
          <a:bodyPr/>
          <a:lstStyle/>
          <a:p>
            <a:r>
              <a:rPr lang="en-IN" altLang="en-US"/>
              <a:t>Content</a:t>
            </a:r>
          </a:p>
        </p:txBody>
      </p:sp>
      <p:sp>
        <p:nvSpPr>
          <p:cNvPr id="4" name="Date Placeholder 3">
            <a:extLst>
              <a:ext uri="{FF2B5EF4-FFF2-40B4-BE49-F238E27FC236}">
                <a16:creationId xmlns:a16="http://schemas.microsoft.com/office/drawing/2014/main" id="{3AC7997F-2E5F-9EAA-7B5A-44F66D58D27D}"/>
              </a:ext>
            </a:extLst>
          </p:cNvPr>
          <p:cNvSpPr>
            <a:spLocks noGrp="1"/>
          </p:cNvSpPr>
          <p:nvPr>
            <p:ph type="dt" sz="quarter" idx="10"/>
          </p:nvPr>
        </p:nvSpPr>
        <p:spPr/>
        <p:txBody>
          <a:bodyPr/>
          <a:lstStyle/>
          <a:p>
            <a:pPr>
              <a:defRPr/>
            </a:pPr>
            <a:fld id="{0AA7F9A9-EB40-4174-A8AB-BA6F6AA90C26}" type="datetime1">
              <a:rPr lang="en-IN" smtClean="0"/>
              <a:pPr>
                <a:defRPr/>
              </a:pPr>
              <a:t>04-10-2026</a:t>
            </a:fld>
            <a:endParaRPr lang="en-US" dirty="0"/>
          </a:p>
        </p:txBody>
      </p:sp>
      <p:sp>
        <p:nvSpPr>
          <p:cNvPr id="7173" name="Footer Placeholder 4">
            <a:extLst>
              <a:ext uri="{FF2B5EF4-FFF2-40B4-BE49-F238E27FC236}">
                <a16:creationId xmlns:a16="http://schemas.microsoft.com/office/drawing/2014/main" id="{A3634726-1982-2D07-E996-7B81B687114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
        <p:nvSpPr>
          <p:cNvPr id="7174" name="Slide Number Placeholder 5">
            <a:extLst>
              <a:ext uri="{FF2B5EF4-FFF2-40B4-BE49-F238E27FC236}">
                <a16:creationId xmlns:a16="http://schemas.microsoft.com/office/drawing/2014/main" id="{258511AD-C006-E487-9159-6A94F472133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6C092909-6F18-495A-A1CD-B5C544217B19}" type="slidenum">
              <a:rPr lang="en-US" altLang="en-US" sz="1200">
                <a:solidFill>
                  <a:schemeClr val="bg1"/>
                </a:solidFill>
              </a:rPr>
              <a:pPr>
                <a:lnSpc>
                  <a:spcPct val="100000"/>
                </a:lnSpc>
                <a:spcBef>
                  <a:spcPct val="0"/>
                </a:spcBef>
                <a:buFontTx/>
                <a:buNone/>
              </a:pPr>
              <a:t>2</a:t>
            </a:fld>
            <a:endParaRPr lang="en-US" altLang="en-US" sz="120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4E79CA1A-0177-9BC6-9815-2224964C0279}"/>
              </a:ext>
            </a:extLst>
          </p:cNvPr>
          <p:cNvSpPr>
            <a:spLocks noGrp="1" noChangeArrowheads="1"/>
          </p:cNvSpPr>
          <p:nvPr>
            <p:ph type="title"/>
          </p:nvPr>
        </p:nvSpPr>
        <p:spPr>
          <a:xfrm>
            <a:off x="838200" y="365125"/>
            <a:ext cx="9761538" cy="1325563"/>
          </a:xfrm>
        </p:spPr>
        <p:txBody>
          <a:bodyPr/>
          <a:lstStyle/>
          <a:p>
            <a:pPr eaLnBrk="1" hangingPunct="1"/>
            <a:r>
              <a:rPr lang="en-US" altLang="en-US" b="1"/>
              <a:t>Introduction</a:t>
            </a:r>
          </a:p>
        </p:txBody>
      </p:sp>
      <p:sp>
        <p:nvSpPr>
          <p:cNvPr id="8195" name="Content Placeholder 2">
            <a:extLst>
              <a:ext uri="{FF2B5EF4-FFF2-40B4-BE49-F238E27FC236}">
                <a16:creationId xmlns:a16="http://schemas.microsoft.com/office/drawing/2014/main" id="{58F84F8E-6B2E-ED55-3A74-EFD3B6C071B0}"/>
              </a:ext>
            </a:extLst>
          </p:cNvPr>
          <p:cNvSpPr>
            <a:spLocks noGrp="1" noChangeArrowheads="1"/>
          </p:cNvSpPr>
          <p:nvPr>
            <p:ph idx="1"/>
          </p:nvPr>
        </p:nvSpPr>
        <p:spPr>
          <a:xfrm>
            <a:off x="838200" y="1625600"/>
            <a:ext cx="10160000" cy="4699000"/>
          </a:xfrm>
        </p:spPr>
        <p:txBody>
          <a:bodyPr wrap="square">
            <a:noAutofit/>
          </a:bodyPr>
          <a:lstStyle/>
          <a:p>
            <a:pPr eaLnBrk="1" hangingPunct="1">
              <a:lnSpc>
                <a:spcPct val="100000"/>
              </a:lnSpc>
              <a:spcBef>
                <a:spcPts val="0"/>
              </a:spcBef>
              <a:spcAft>
                <a:spcPts val="700"/>
              </a:spcAft>
            </a:pPr>
            <a:r>
              <a:rPr lang="en-IN" altLang="en-US" sz="1800"/>
              <a:t>OpenCAI is a white-label AIOps and FinOps platform: teams manage their cloud by chatting with an AI agent.</a:t>
            </a:r>
          </a:p>
          <a:p>
            <a:pPr eaLnBrk="1" hangingPunct="1">
              <a:lnSpc>
                <a:spcPct val="100000"/>
              </a:lnSpc>
              <a:spcBef>
                <a:spcPts val="0"/>
              </a:spcBef>
              <a:spcAft>
                <a:spcPts val="700"/>
              </a:spcAft>
            </a:pPr>
            <a:r>
              <a:rPr lang="en-IN" altLang="en-US" sz="1800"/>
              <a:t>Operators ask in plain language to inspect resources, troubleshoot issues or analyse costs for a selected Workspace.</a:t>
            </a:r>
          </a:p>
          <a:p>
            <a:pPr eaLnBrk="1" hangingPunct="1">
              <a:lnSpc>
                <a:spcPct val="100000"/>
              </a:lnSpc>
              <a:spcBef>
                <a:spcPts val="0"/>
              </a:spcBef>
              <a:spcAft>
                <a:spcPts val="700"/>
              </a:spcAft>
            </a:pPr>
            <a:r>
              <a:rPr lang="en-IN" altLang="en-US" sz="1800"/>
              <a:t>The agent proposes the exact cloud CLI command, explains it, and runs it in an isolated Docker sandbox.</a:t>
            </a:r>
          </a:p>
          <a:p>
            <a:pPr eaLnBrk="1" hangingPunct="1">
              <a:lnSpc>
                <a:spcPct val="100000"/>
              </a:lnSpc>
              <a:spcBef>
                <a:spcPts val="0"/>
              </a:spcBef>
              <a:spcAft>
                <a:spcPts val="700"/>
              </a:spcAft>
            </a:pPr>
            <a:r>
              <a:rPr lang="en-IN" altLang="en-US" sz="1800" b="1"/>
              <a:t>Features:</a:t>
            </a:r>
          </a:p>
          <a:p>
            <a:pPr lvl="1" eaLnBrk="1" hangingPunct="1">
              <a:lnSpc>
                <a:spcPct val="100000"/>
              </a:lnSpc>
              <a:spcBef>
                <a:spcPts val="0"/>
              </a:spcBef>
              <a:spcAft>
                <a:spcPts val="700"/>
              </a:spcAft>
            </a:pPr>
            <a:r>
              <a:rPr lang="en-IN" altLang="en-US" sz="1600" b="1"/>
              <a:t>Two modes:</a:t>
            </a:r>
            <a:r>
              <a:rPr lang="en-IN" altLang="en-US" sz="1600"/>
              <a:t> AIOps (cloud operations) and FinOps (Tag Compliance, Cost Analytics, Waste Management, Cost Optimisation).</a:t>
            </a:r>
          </a:p>
          <a:p>
            <a:pPr lvl="1" eaLnBrk="1" hangingPunct="1">
              <a:lnSpc>
                <a:spcPct val="100000"/>
              </a:lnSpc>
              <a:spcBef>
                <a:spcPts val="0"/>
              </a:spcBef>
              <a:spcAft>
                <a:spcPts val="700"/>
              </a:spcAft>
            </a:pPr>
            <a:r>
              <a:rPr lang="en-IN" altLang="en-US" sz="1600" b="1"/>
              <a:t>Human approval:</a:t>
            </a:r>
            <a:r>
              <a:rPr lang="en-IN" altLang="en-US" sz="1600"/>
              <a:t> any command that changes resources runs only after the Operator confirms it.</a:t>
            </a:r>
          </a:p>
          <a:p>
            <a:pPr lvl="1" eaLnBrk="1" hangingPunct="1">
              <a:lnSpc>
                <a:spcPct val="100000"/>
              </a:lnSpc>
              <a:spcBef>
                <a:spcPts val="0"/>
              </a:spcBef>
              <a:spcAft>
                <a:spcPts val="700"/>
              </a:spcAft>
            </a:pPr>
            <a:r>
              <a:rPr lang="en-IN" altLang="en-US" sz="1600" b="1"/>
              <a:t>Administration:</a:t>
            </a:r>
            <a:r>
              <a:rPr lang="en-IN" altLang="en-US" sz="1600"/>
              <a:t> Organisations, Workspaces, Operators, model settings and branding are controlled by Administrators.</a:t>
            </a:r>
          </a:p>
          <a:p>
            <a:pPr lvl="1" eaLnBrk="1" hangingPunct="1">
              <a:lnSpc>
                <a:spcPct val="100000"/>
              </a:lnSpc>
              <a:spcBef>
                <a:spcPts val="0"/>
              </a:spcBef>
              <a:spcAft>
                <a:spcPts val="700"/>
              </a:spcAft>
            </a:pPr>
            <a:r>
              <a:rPr lang="en-IN" altLang="en-US" sz="1600" b="1"/>
              <a:t>Security:</a:t>
            </a:r>
            <a:r>
              <a:rPr lang="en-IN" altLang="en-US" sz="1600"/>
              <a:t> MFA sign-in, envelope-encrypted credentials and a full audit trail.</a:t>
            </a:r>
            <a:endParaRPr lang="en-US" altLang="en-US" sz="1600"/>
          </a:p>
        </p:txBody>
      </p:sp>
      <p:sp>
        <p:nvSpPr>
          <p:cNvPr id="8196" name="Date Placeholder 5">
            <a:extLst>
              <a:ext uri="{FF2B5EF4-FFF2-40B4-BE49-F238E27FC236}">
                <a16:creationId xmlns:a16="http://schemas.microsoft.com/office/drawing/2014/main" id="{ADA47192-B675-6615-04F3-AFECC9FD67EB}"/>
              </a:ext>
            </a:extLst>
          </p:cNvPr>
          <p:cNvSpPr>
            <a:spLocks noGrp="1" noChangeArrowheads="1"/>
          </p:cNvSpPr>
          <p:nvPr>
            <p:ph type="dt" sz="quarter" idx="10"/>
          </p:nvPr>
        </p:nvSpPr>
        <p:spPr bwMode="auto">
          <a:xfrm>
            <a:off x="266700" y="6518275"/>
            <a:ext cx="2209800" cy="300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09CB2EE2-A19F-47D0-97EC-C49E8CAF108C}" type="datetime1">
              <a:rPr lang="en-IN" altLang="en-US" sz="1200" smtClean="0">
                <a:solidFill>
                  <a:schemeClr val="bg1"/>
                </a:solidFill>
              </a:rPr>
              <a:pPr fontAlgn="base">
                <a:lnSpc>
                  <a:spcPct val="100000"/>
                </a:lnSpc>
                <a:spcBef>
                  <a:spcPct val="0"/>
                </a:spcBef>
                <a:spcAft>
                  <a:spcPct val="0"/>
                </a:spcAft>
                <a:buFontTx/>
                <a:buNone/>
              </a:pPr>
              <a:t>04-10-2026</a:t>
            </a:fld>
            <a:endParaRPr lang="en-US" altLang="en-US" sz="1200">
              <a:solidFill>
                <a:schemeClr val="bg1"/>
              </a:solidFill>
            </a:endParaRPr>
          </a:p>
        </p:txBody>
      </p:sp>
      <p:sp>
        <p:nvSpPr>
          <p:cNvPr id="8197" name="Slide Number Placeholder 6">
            <a:extLst>
              <a:ext uri="{FF2B5EF4-FFF2-40B4-BE49-F238E27FC236}">
                <a16:creationId xmlns:a16="http://schemas.microsoft.com/office/drawing/2014/main" id="{E756AD21-C0D0-A2AA-096E-799F787E6D1D}"/>
              </a:ext>
            </a:extLst>
          </p:cNvPr>
          <p:cNvSpPr>
            <a:spLocks noGrp="1" noChangeArrowheads="1"/>
          </p:cNvSpPr>
          <p:nvPr>
            <p:ph type="sldNum" sz="quarter" idx="12"/>
          </p:nvPr>
        </p:nvSpPr>
        <p:spPr bwMode="auto">
          <a:xfrm>
            <a:off x="9607550" y="6453188"/>
            <a:ext cx="1979613"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D0D109A8-DD85-4042-8115-4F1A60306CFF}" type="slidenum">
              <a:rPr lang="en-US" altLang="en-US" sz="1200">
                <a:solidFill>
                  <a:schemeClr val="bg1"/>
                </a:solidFill>
              </a:rPr>
              <a:pPr>
                <a:lnSpc>
                  <a:spcPct val="100000"/>
                </a:lnSpc>
                <a:spcBef>
                  <a:spcPct val="0"/>
                </a:spcBef>
                <a:buFontTx/>
                <a:buNone/>
              </a:pPr>
              <a:t>3</a:t>
            </a:fld>
            <a:endParaRPr lang="en-US" altLang="en-US" sz="1200">
              <a:solidFill>
                <a:schemeClr val="bg1"/>
              </a:solidFill>
            </a:endParaRPr>
          </a:p>
        </p:txBody>
      </p:sp>
      <p:sp>
        <p:nvSpPr>
          <p:cNvPr id="8198" name="Footer Placeholder 9">
            <a:extLst>
              <a:ext uri="{FF2B5EF4-FFF2-40B4-BE49-F238E27FC236}">
                <a16:creationId xmlns:a16="http://schemas.microsoft.com/office/drawing/2014/main" id="{514450DB-139E-D90D-1BEE-B56ADEE1C70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651D5859-B655-77F2-345C-340E2203E35E}"/>
              </a:ext>
            </a:extLst>
          </p:cNvPr>
          <p:cNvSpPr>
            <a:spLocks noGrp="1" noChangeArrowheads="1"/>
          </p:cNvSpPr>
          <p:nvPr>
            <p:ph type="title"/>
          </p:nvPr>
        </p:nvSpPr>
        <p:spPr>
          <a:xfrm>
            <a:off x="838200" y="365125"/>
            <a:ext cx="9761538" cy="1325563"/>
          </a:xfrm>
        </p:spPr>
        <p:txBody>
          <a:bodyPr/>
          <a:lstStyle/>
          <a:p>
            <a:pPr eaLnBrk="1" hangingPunct="1"/>
            <a:r>
              <a:rPr lang="en-US" altLang="en-US" b="1"/>
              <a:t>Motivation</a:t>
            </a:r>
          </a:p>
        </p:txBody>
      </p:sp>
      <p:sp>
        <p:nvSpPr>
          <p:cNvPr id="9219" name="Content Placeholder 2">
            <a:extLst>
              <a:ext uri="{FF2B5EF4-FFF2-40B4-BE49-F238E27FC236}">
                <a16:creationId xmlns:a16="http://schemas.microsoft.com/office/drawing/2014/main" id="{2C2E55DC-BB88-534A-4DE3-A688C22DD6C2}"/>
              </a:ext>
            </a:extLst>
          </p:cNvPr>
          <p:cNvSpPr>
            <a:spLocks noGrp="1" noChangeArrowheads="1"/>
          </p:cNvSpPr>
          <p:nvPr>
            <p:ph idx="1"/>
          </p:nvPr>
        </p:nvSpPr>
        <p:spPr>
          <a:xfrm>
            <a:off x="838200" y="1676400"/>
            <a:ext cx="10160000" cy="4635500"/>
          </a:xfrm>
        </p:spPr>
        <p:txBody>
          <a:bodyPr wrap="square">
            <a:noAutofit/>
          </a:bodyPr>
          <a:lstStyle/>
          <a:p>
            <a:pPr eaLnBrk="1" hangingPunct="1">
              <a:lnSpc>
                <a:spcPct val="100000"/>
              </a:lnSpc>
              <a:spcBef>
                <a:spcPts val="0"/>
              </a:spcBef>
              <a:spcAft>
                <a:spcPts val="700"/>
              </a:spcAft>
            </a:pPr>
            <a:r>
              <a:rPr lang="en-IN" altLang="en-US" sz="1900" b="1"/>
              <a:t>Lower the skill barrier:</a:t>
            </a:r>
            <a:r>
              <a:rPr lang="en-IN" altLang="en-US" sz="1900"/>
              <a:t> cloud consoles and CLIs have thousands of commands; plain language is faster than memorising syntax.</a:t>
            </a:r>
          </a:p>
          <a:p>
            <a:pPr eaLnBrk="1" hangingPunct="1">
              <a:lnSpc>
                <a:spcPct val="100000"/>
              </a:lnSpc>
              <a:spcBef>
                <a:spcPts val="0"/>
              </a:spcBef>
              <a:spcAft>
                <a:spcPts val="700"/>
              </a:spcAft>
            </a:pPr>
            <a:r>
              <a:rPr lang="en-IN" altLang="en-US" sz="1900" b="1"/>
              <a:t>Make cost visible:</a:t>
            </a:r>
            <a:r>
              <a:rPr lang="en-IN" altLang="en-US" sz="1900"/>
              <a:t> cost and usage data is spread across services, so waste and untagged resources go unnoticed.</a:t>
            </a:r>
          </a:p>
          <a:p>
            <a:pPr eaLnBrk="1" hangingPunct="1">
              <a:lnSpc>
                <a:spcPct val="100000"/>
              </a:lnSpc>
              <a:spcBef>
                <a:spcPts val="0"/>
              </a:spcBef>
              <a:spcAft>
                <a:spcPts val="700"/>
              </a:spcAft>
            </a:pPr>
            <a:r>
              <a:rPr lang="en-IN" altLang="en-US" sz="1900" b="1"/>
              <a:t>Keep a human in control:</a:t>
            </a:r>
            <a:r>
              <a:rPr lang="en-IN" altLang="en-US" sz="1900"/>
              <a:t> an AI that runs commands on a live cloud account must not act on its own judgement alone.</a:t>
            </a:r>
          </a:p>
          <a:p>
            <a:pPr eaLnBrk="1" hangingPunct="1">
              <a:lnSpc>
                <a:spcPct val="100000"/>
              </a:lnSpc>
              <a:spcBef>
                <a:spcPts val="0"/>
              </a:spcBef>
              <a:spcAft>
                <a:spcPts val="700"/>
              </a:spcAft>
            </a:pPr>
            <a:r>
              <a:rPr lang="en-IN" altLang="en-US" sz="1900" b="1"/>
              <a:t>Protect credentials:</a:t>
            </a:r>
            <a:r>
              <a:rPr lang="en-IN" altLang="en-US" sz="1900"/>
              <a:t> long-lived access keys shared between people and tools are a common source of leaks.</a:t>
            </a:r>
          </a:p>
          <a:p>
            <a:pPr eaLnBrk="1" hangingPunct="1">
              <a:lnSpc>
                <a:spcPct val="100000"/>
              </a:lnSpc>
              <a:spcBef>
                <a:spcPts val="0"/>
              </a:spcBef>
              <a:spcAft>
                <a:spcPts val="700"/>
              </a:spcAft>
            </a:pPr>
            <a:r>
              <a:rPr lang="en-IN" altLang="en-US" sz="1900" b="1"/>
              <a:t>No open, controllable option:</a:t>
            </a:r>
            <a:r>
              <a:rPr lang="en-IN" altLang="en-US" sz="1900"/>
              <a:t> existing cloud assistants are proprietary, vendor-hosted and tied to one cloud and model; there is no open-source one a team can self-host, inspect and control.</a:t>
            </a:r>
            <a:endParaRPr lang="en-US" altLang="en-US" sz="1900"/>
          </a:p>
        </p:txBody>
      </p:sp>
      <p:sp>
        <p:nvSpPr>
          <p:cNvPr id="9220" name="Date Placeholder 5">
            <a:extLst>
              <a:ext uri="{FF2B5EF4-FFF2-40B4-BE49-F238E27FC236}">
                <a16:creationId xmlns:a16="http://schemas.microsoft.com/office/drawing/2014/main" id="{6B627240-EC45-503F-8FEB-2EEE3E1B954F}"/>
              </a:ext>
            </a:extLst>
          </p:cNvPr>
          <p:cNvSpPr>
            <a:spLocks noGrp="1" noChangeArrowheads="1"/>
          </p:cNvSpPr>
          <p:nvPr>
            <p:ph type="dt" sz="quarter" idx="10"/>
          </p:nvPr>
        </p:nvSpPr>
        <p:spPr bwMode="auto">
          <a:xfrm>
            <a:off x="266700" y="6518275"/>
            <a:ext cx="2209800" cy="300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3A016304-D83F-4A80-AF20-966A1ADC3C54}" type="datetime1">
              <a:rPr lang="en-IN" altLang="en-US" sz="1200" smtClean="0">
                <a:solidFill>
                  <a:schemeClr val="bg1"/>
                </a:solidFill>
              </a:rPr>
              <a:pPr fontAlgn="base">
                <a:lnSpc>
                  <a:spcPct val="100000"/>
                </a:lnSpc>
                <a:spcBef>
                  <a:spcPct val="0"/>
                </a:spcBef>
                <a:spcAft>
                  <a:spcPct val="0"/>
                </a:spcAft>
                <a:buFontTx/>
                <a:buNone/>
              </a:pPr>
              <a:t>04-10-2026</a:t>
            </a:fld>
            <a:endParaRPr lang="en-US" altLang="en-US" sz="1200">
              <a:solidFill>
                <a:schemeClr val="bg1"/>
              </a:solidFill>
            </a:endParaRPr>
          </a:p>
        </p:txBody>
      </p:sp>
      <p:sp>
        <p:nvSpPr>
          <p:cNvPr id="9221" name="Slide Number Placeholder 6">
            <a:extLst>
              <a:ext uri="{FF2B5EF4-FFF2-40B4-BE49-F238E27FC236}">
                <a16:creationId xmlns:a16="http://schemas.microsoft.com/office/drawing/2014/main" id="{130B773A-5487-1552-BC32-EB04BD952723}"/>
              </a:ext>
            </a:extLst>
          </p:cNvPr>
          <p:cNvSpPr>
            <a:spLocks noGrp="1" noChangeArrowheads="1"/>
          </p:cNvSpPr>
          <p:nvPr>
            <p:ph type="sldNum" sz="quarter" idx="12"/>
          </p:nvPr>
        </p:nvSpPr>
        <p:spPr bwMode="auto">
          <a:xfrm>
            <a:off x="9607550" y="6453188"/>
            <a:ext cx="1979613"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38185BDC-9825-4D5D-9CC5-50109A597052}" type="slidenum">
              <a:rPr lang="en-US" altLang="en-US" sz="1200">
                <a:solidFill>
                  <a:schemeClr val="bg1"/>
                </a:solidFill>
              </a:rPr>
              <a:pPr>
                <a:lnSpc>
                  <a:spcPct val="100000"/>
                </a:lnSpc>
                <a:spcBef>
                  <a:spcPct val="0"/>
                </a:spcBef>
                <a:buFontTx/>
                <a:buNone/>
              </a:pPr>
              <a:t>4</a:t>
            </a:fld>
            <a:endParaRPr lang="en-US" altLang="en-US" sz="1200">
              <a:solidFill>
                <a:schemeClr val="bg1"/>
              </a:solidFill>
            </a:endParaRPr>
          </a:p>
        </p:txBody>
      </p:sp>
      <p:sp>
        <p:nvSpPr>
          <p:cNvPr id="9222" name="Footer Placeholder 9">
            <a:extLst>
              <a:ext uri="{FF2B5EF4-FFF2-40B4-BE49-F238E27FC236}">
                <a16:creationId xmlns:a16="http://schemas.microsoft.com/office/drawing/2014/main" id="{B043862D-D676-0B3F-0E2E-63897657AC79}"/>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1">
            <a:extLst>
              <a:ext uri="{FF2B5EF4-FFF2-40B4-BE49-F238E27FC236}">
                <a16:creationId xmlns:a16="http://schemas.microsoft.com/office/drawing/2014/main" id="{289A465A-9125-74EB-027B-344F99010849}"/>
              </a:ext>
            </a:extLst>
          </p:cNvPr>
          <p:cNvSpPr>
            <a:spLocks noGrp="1" noChangeArrowheads="1"/>
          </p:cNvSpPr>
          <p:nvPr>
            <p:ph idx="1"/>
          </p:nvPr>
        </p:nvSpPr>
        <p:spPr>
          <a:xfrm>
            <a:off x="838200" y="1676399"/>
            <a:ext cx="10160000" cy="4635500"/>
          </a:xfrm>
        </p:spPr>
        <p:txBody>
          <a:bodyPr wrap="square">
            <a:noAutofit/>
          </a:bodyPr>
          <a:lstStyle/>
          <a:p>
            <a:pPr eaLnBrk="1" hangingPunct="1">
              <a:lnSpc>
                <a:spcPct val="100000"/>
              </a:lnSpc>
              <a:spcBef>
                <a:spcPts val="0"/>
              </a:spcBef>
              <a:spcAft>
                <a:spcPts val="700"/>
              </a:spcAft>
            </a:pPr>
            <a:r>
              <a:rPr lang="en-IN" altLang="en-US" sz="1900"/>
              <a:t>Operating a cloud account needs deep knowledge of provider consoles and CLIs, and cost data is hard to interpret.</a:t>
            </a:r>
          </a:p>
          <a:p>
            <a:pPr eaLnBrk="1" hangingPunct="1">
              <a:lnSpc>
                <a:spcPct val="100000"/>
              </a:lnSpc>
              <a:spcBef>
                <a:spcPts val="0"/>
              </a:spcBef>
              <a:spcAft>
                <a:spcPts val="700"/>
              </a:spcAft>
            </a:pPr>
            <a:r>
              <a:rPr lang="en-IN" altLang="en-US" sz="1900"/>
              <a:t>LLM agents can translate plain language into commands, but letting a model run commands on a live account is unsafe: it can be wrong, or be manipulated.</a:t>
            </a:r>
          </a:p>
          <a:p>
            <a:pPr eaLnBrk="1" hangingPunct="1">
              <a:lnSpc>
                <a:spcPct val="100000"/>
              </a:lnSpc>
              <a:spcBef>
                <a:spcPts val="0"/>
              </a:spcBef>
              <a:spcAft>
                <a:spcPts val="700"/>
              </a:spcAft>
            </a:pPr>
            <a:r>
              <a:rPr lang="en-IN" altLang="en-US" sz="1900" b="1"/>
              <a:t>Existing solutions are private:</a:t>
            </a:r>
            <a:r>
              <a:rPr lang="en-IN" altLang="en-US" sz="1900"/>
              <a:t> proprietary, vendor-hosted and single-cloud, so they cannot be inspected, self-hosted, scoped to client organisations or re-branded.</a:t>
            </a:r>
          </a:p>
          <a:p>
            <a:pPr eaLnBrk="1" hangingPunct="1">
              <a:lnSpc>
                <a:spcPct val="100000"/>
              </a:lnSpc>
              <a:spcBef>
                <a:spcPts val="0"/>
              </a:spcBef>
              <a:spcAft>
                <a:spcPts val="700"/>
              </a:spcAft>
            </a:pPr>
            <a:r>
              <a:rPr lang="en-IN" altLang="en-US" sz="1900" b="1"/>
              <a:t>Problem:</a:t>
            </a:r>
            <a:r>
              <a:rPr lang="en-IN" altLang="en-US" sz="1900"/>
              <a:t> build a self-hosted, white-label platform where an AI agent performs cloud operations and cost analysis from chat, while every safety property is enforced by deterministic code around the model and not by the model itself.</a:t>
            </a:r>
            <a:endParaRPr lang="en-US" altLang="en-US" sz="1900"/>
          </a:p>
        </p:txBody>
      </p:sp>
      <p:sp>
        <p:nvSpPr>
          <p:cNvPr id="11267" name="Title 2">
            <a:extLst>
              <a:ext uri="{FF2B5EF4-FFF2-40B4-BE49-F238E27FC236}">
                <a16:creationId xmlns:a16="http://schemas.microsoft.com/office/drawing/2014/main" id="{088E7EF5-E781-D368-F421-9D49548A4018}"/>
              </a:ext>
            </a:extLst>
          </p:cNvPr>
          <p:cNvSpPr>
            <a:spLocks noGrp="1" noChangeArrowheads="1"/>
          </p:cNvSpPr>
          <p:nvPr>
            <p:ph type="title"/>
          </p:nvPr>
        </p:nvSpPr>
        <p:spPr>
          <a:xfrm>
            <a:off x="838200" y="365125"/>
            <a:ext cx="9779000" cy="1325563"/>
          </a:xfrm>
        </p:spPr>
        <p:txBody>
          <a:bodyPr/>
          <a:lstStyle/>
          <a:p>
            <a:pPr eaLnBrk="1" hangingPunct="1"/>
            <a:r>
              <a:rPr lang="en-US" altLang="en-US" b="1"/>
              <a:t>Problem Definition/Problem statement</a:t>
            </a:r>
          </a:p>
        </p:txBody>
      </p:sp>
      <p:sp>
        <p:nvSpPr>
          <p:cNvPr id="11268" name="Date Placeholder 3">
            <a:extLst>
              <a:ext uri="{FF2B5EF4-FFF2-40B4-BE49-F238E27FC236}">
                <a16:creationId xmlns:a16="http://schemas.microsoft.com/office/drawing/2014/main" id="{EBDC358E-7793-9103-4F8F-21E4E435397C}"/>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2013FB08-F8D2-42D7-BC80-6AB0D07E89E4}" type="datetime1">
              <a:rPr lang="en-IN" altLang="en-US" sz="1200" smtClean="0">
                <a:solidFill>
                  <a:schemeClr val="bg1"/>
                </a:solidFill>
              </a:rPr>
              <a:pPr fontAlgn="base">
                <a:lnSpc>
                  <a:spcPct val="100000"/>
                </a:lnSpc>
                <a:spcBef>
                  <a:spcPct val="0"/>
                </a:spcBef>
                <a:spcAft>
                  <a:spcPct val="0"/>
                </a:spcAft>
                <a:buFontTx/>
                <a:buNone/>
              </a:pPr>
              <a:t>04-10-2026</a:t>
            </a:fld>
            <a:endParaRPr lang="en-US" altLang="en-US" sz="1200">
              <a:solidFill>
                <a:schemeClr val="bg1"/>
              </a:solidFill>
            </a:endParaRPr>
          </a:p>
        </p:txBody>
      </p:sp>
      <p:sp>
        <p:nvSpPr>
          <p:cNvPr id="11269" name="Footer Placeholder 4">
            <a:extLst>
              <a:ext uri="{FF2B5EF4-FFF2-40B4-BE49-F238E27FC236}">
                <a16:creationId xmlns:a16="http://schemas.microsoft.com/office/drawing/2014/main" id="{5D9C5843-4AB5-ED33-A702-5CA7547B4A2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
        <p:nvSpPr>
          <p:cNvPr id="11270" name="Slide Number Placeholder 5">
            <a:extLst>
              <a:ext uri="{FF2B5EF4-FFF2-40B4-BE49-F238E27FC236}">
                <a16:creationId xmlns:a16="http://schemas.microsoft.com/office/drawing/2014/main" id="{3C245CB7-7C92-62A6-BD4D-21AA9EC3D50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C83D46D1-CC26-43C1-B130-81DD299488E2}" type="slidenum">
              <a:rPr lang="en-US" altLang="en-US" sz="1200">
                <a:solidFill>
                  <a:schemeClr val="bg1"/>
                </a:solidFill>
              </a:rPr>
              <a:pPr>
                <a:lnSpc>
                  <a:spcPct val="100000"/>
                </a:lnSpc>
                <a:spcBef>
                  <a:spcPct val="0"/>
                </a:spcBef>
                <a:buFontTx/>
                <a:buNone/>
              </a:pPr>
              <a:t>5</a:t>
            </a:fld>
            <a:endParaRPr lang="en-US" altLang="en-US" sz="120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B152F67-2BEC-929B-8A43-C49973817035}"/>
              </a:ext>
            </a:extLst>
          </p:cNvPr>
          <p:cNvSpPr>
            <a:spLocks noGrp="1" noChangeArrowheads="1"/>
          </p:cNvSpPr>
          <p:nvPr>
            <p:ph type="title"/>
          </p:nvPr>
        </p:nvSpPr>
        <p:spPr>
          <a:xfrm>
            <a:off x="838200" y="365125"/>
            <a:ext cx="9761538" cy="1325563"/>
          </a:xfrm>
        </p:spPr>
        <p:txBody>
          <a:bodyPr/>
          <a:lstStyle/>
          <a:p>
            <a:pPr eaLnBrk="1" hangingPunct="1"/>
            <a:r>
              <a:rPr lang="en-US" altLang="en-US" b="1"/>
              <a:t>Research Gap</a:t>
            </a:r>
          </a:p>
        </p:txBody>
      </p:sp>
      <p:sp>
        <p:nvSpPr>
          <p:cNvPr id="12291" name="Content Placeholder 2">
            <a:extLst>
              <a:ext uri="{FF2B5EF4-FFF2-40B4-BE49-F238E27FC236}">
                <a16:creationId xmlns:a16="http://schemas.microsoft.com/office/drawing/2014/main" id="{2D8AF285-7E06-C547-1CA0-7F727DAD87E7}"/>
              </a:ext>
            </a:extLst>
          </p:cNvPr>
          <p:cNvSpPr>
            <a:spLocks noGrp="1" noChangeArrowheads="1"/>
          </p:cNvSpPr>
          <p:nvPr>
            <p:ph idx="1"/>
          </p:nvPr>
        </p:nvSpPr>
        <p:spPr>
          <a:xfrm>
            <a:off x="838200" y="1714500"/>
            <a:ext cx="10160000" cy="4572000"/>
          </a:xfrm>
        </p:spPr>
        <p:txBody>
          <a:bodyPr wrap="square">
            <a:noAutofit/>
          </a:bodyPr>
          <a:lstStyle/>
          <a:p>
            <a:pPr>
              <a:lnSpc>
                <a:spcPct val="100000"/>
              </a:lnSpc>
              <a:spcBef>
                <a:spcPts val="0"/>
              </a:spcBef>
              <a:spcAft>
                <a:spcPts val="700"/>
              </a:spcAft>
            </a:pPr>
            <a:r>
              <a:rPr lang="en-IN" altLang="en-US" sz="1900" b="1"/>
              <a:t>Private products, no open source:</a:t>
            </a:r>
            <a:r>
              <a:rPr lang="en-IN" altLang="en-US" sz="1900"/>
              <a:t> several companies have built proprietary cloud assistants, but to our knowledge there is no open-source, self-hostable alternative.</a:t>
            </a:r>
          </a:p>
          <a:p>
            <a:pPr>
              <a:lnSpc>
                <a:spcPct val="100000"/>
              </a:lnSpc>
              <a:spcBef>
                <a:spcPts val="0"/>
              </a:spcBef>
              <a:spcAft>
                <a:spcPts val="700"/>
              </a:spcAft>
            </a:pPr>
            <a:r>
              <a:rPr lang="en-IN" altLang="en-US" sz="1900" b="1"/>
              <a:t>No CLI-driven variant:</a:t>
            </a:r>
            <a:r>
              <a:rPr lang="en-IN" altLang="en-US" sz="1900"/>
              <a:t> to our knowledge, no existing assistant lets the agent drive the cloud CLI itself, the way a human operator would.</a:t>
            </a:r>
          </a:p>
          <a:p>
            <a:pPr>
              <a:lnSpc>
                <a:spcPct val="100000"/>
              </a:lnSpc>
              <a:spcBef>
                <a:spcPts val="0"/>
              </a:spcBef>
              <a:spcAft>
                <a:spcPts val="700"/>
              </a:spcAft>
            </a:pPr>
            <a:r>
              <a:rPr lang="en-IN" altLang="en-US" sz="1900" b="1"/>
              <a:t>Safety is left to the model:</a:t>
            </a:r>
            <a:r>
              <a:rPr lang="en-IN" altLang="en-US" sz="1900"/>
              <a:t> agent frameworks such as ReAct have no deterministic check between a proposed action and its execution.</a:t>
            </a:r>
          </a:p>
          <a:p>
            <a:pPr>
              <a:lnSpc>
                <a:spcPct val="100000"/>
              </a:lnSpc>
              <a:spcBef>
                <a:spcPts val="0"/>
              </a:spcBef>
              <a:spcAft>
                <a:spcPts val="700"/>
              </a:spcAft>
            </a:pPr>
            <a:r>
              <a:rPr lang="en-IN" altLang="en-US" sz="1900" b="1"/>
              <a:t>Operations and cost are separate:</a:t>
            </a:r>
            <a:r>
              <a:rPr lang="en-IN" altLang="en-US" sz="1900"/>
              <a:t> AIOps and FinOps tooling are distinct products; there is no single, audited, conversational interface covering both.</a:t>
            </a:r>
            <a:endParaRPr lang="en-US" altLang="en-US" sz="1900"/>
          </a:p>
        </p:txBody>
      </p:sp>
      <p:sp>
        <p:nvSpPr>
          <p:cNvPr id="12292" name="Date Placeholder 5">
            <a:extLst>
              <a:ext uri="{FF2B5EF4-FFF2-40B4-BE49-F238E27FC236}">
                <a16:creationId xmlns:a16="http://schemas.microsoft.com/office/drawing/2014/main" id="{FFEEFA69-2502-C120-3A4B-8952CC04D914}"/>
              </a:ext>
            </a:extLst>
          </p:cNvPr>
          <p:cNvSpPr>
            <a:spLocks noGrp="1" noChangeArrowheads="1"/>
          </p:cNvSpPr>
          <p:nvPr>
            <p:ph type="dt" sz="quarter" idx="10"/>
          </p:nvPr>
        </p:nvSpPr>
        <p:spPr bwMode="auto">
          <a:xfrm>
            <a:off x="266700" y="6518275"/>
            <a:ext cx="2209800" cy="300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6BF9B9B-CD81-4D79-896F-17BFE6AE4D34}" type="datetime1">
              <a:rPr lang="en-IN" altLang="en-US" sz="1200" smtClean="0">
                <a:solidFill>
                  <a:schemeClr val="bg1"/>
                </a:solidFill>
              </a:rPr>
              <a:pPr fontAlgn="base">
                <a:lnSpc>
                  <a:spcPct val="100000"/>
                </a:lnSpc>
                <a:spcBef>
                  <a:spcPct val="0"/>
                </a:spcBef>
                <a:spcAft>
                  <a:spcPct val="0"/>
                </a:spcAft>
                <a:buFontTx/>
                <a:buNone/>
              </a:pPr>
              <a:t>04-10-2026</a:t>
            </a:fld>
            <a:endParaRPr lang="en-US" altLang="en-US" sz="1200">
              <a:solidFill>
                <a:schemeClr val="bg1"/>
              </a:solidFill>
            </a:endParaRPr>
          </a:p>
        </p:txBody>
      </p:sp>
      <p:sp>
        <p:nvSpPr>
          <p:cNvPr id="12293" name="Slide Number Placeholder 6">
            <a:extLst>
              <a:ext uri="{FF2B5EF4-FFF2-40B4-BE49-F238E27FC236}">
                <a16:creationId xmlns:a16="http://schemas.microsoft.com/office/drawing/2014/main" id="{D1030AC9-C165-86E8-57A9-BA00545F1D34}"/>
              </a:ext>
            </a:extLst>
          </p:cNvPr>
          <p:cNvSpPr>
            <a:spLocks noGrp="1" noChangeArrowheads="1"/>
          </p:cNvSpPr>
          <p:nvPr>
            <p:ph type="sldNum" sz="quarter" idx="12"/>
          </p:nvPr>
        </p:nvSpPr>
        <p:spPr bwMode="auto">
          <a:xfrm>
            <a:off x="9607550" y="6453188"/>
            <a:ext cx="1979613"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D1F1C5E4-C567-450E-AA08-FCC28876A1D8}" type="slidenum">
              <a:rPr lang="en-US" altLang="en-US" sz="1200">
                <a:solidFill>
                  <a:schemeClr val="bg1"/>
                </a:solidFill>
              </a:rPr>
              <a:pPr>
                <a:lnSpc>
                  <a:spcPct val="100000"/>
                </a:lnSpc>
                <a:spcBef>
                  <a:spcPct val="0"/>
                </a:spcBef>
                <a:buFontTx/>
                <a:buNone/>
              </a:pPr>
              <a:t>6</a:t>
            </a:fld>
            <a:endParaRPr lang="en-US" altLang="en-US" sz="1200">
              <a:solidFill>
                <a:schemeClr val="bg1"/>
              </a:solidFill>
            </a:endParaRPr>
          </a:p>
        </p:txBody>
      </p:sp>
      <p:sp>
        <p:nvSpPr>
          <p:cNvPr id="12294" name="Footer Placeholder 9">
            <a:extLst>
              <a:ext uri="{FF2B5EF4-FFF2-40B4-BE49-F238E27FC236}">
                <a16:creationId xmlns:a16="http://schemas.microsoft.com/office/drawing/2014/main" id="{ED7BA310-F8CC-F373-6B13-7323B88076AA}"/>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1">
            <a:extLst>
              <a:ext uri="{FF2B5EF4-FFF2-40B4-BE49-F238E27FC236}">
                <a16:creationId xmlns:a16="http://schemas.microsoft.com/office/drawing/2014/main" id="{73414995-4CCA-8E3C-B5CA-CE0593F096F6}"/>
              </a:ext>
            </a:extLst>
          </p:cNvPr>
          <p:cNvSpPr>
            <a:spLocks noGrp="1"/>
          </p:cNvSpPr>
          <p:nvPr>
            <p:ph idx="1"/>
          </p:nvPr>
        </p:nvSpPr>
        <p:spPr>
          <a:xfrm>
            <a:off x="838200" y="1676400"/>
            <a:ext cx="10160000" cy="4635500"/>
          </a:xfrm>
        </p:spPr>
        <p:txBody>
          <a:bodyPr wrap="square">
            <a:noAutofit/>
          </a:bodyPr>
          <a:lstStyle/>
          <a:p>
            <a:pPr>
              <a:lnSpc>
                <a:spcPct val="100000"/>
              </a:lnSpc>
              <a:spcBef>
                <a:spcPts val="0"/>
              </a:spcBef>
              <a:spcAft>
                <a:spcPts val="700"/>
              </a:spcAft>
              <a:defRPr/>
            </a:pPr>
            <a:r>
              <a:rPr lang="en-IN" altLang="en-US" sz="1900"/>
              <a:t>Build a chat interface through which Operators run AIOps and FinOps tasks on a selected cloud Workspace.</a:t>
            </a:r>
          </a:p>
          <a:p>
            <a:pPr>
              <a:lnSpc>
                <a:spcPct val="100000"/>
              </a:lnSpc>
              <a:spcBef>
                <a:spcPts val="0"/>
              </a:spcBef>
              <a:spcAft>
                <a:spcPts val="700"/>
              </a:spcAft>
              <a:defRPr/>
            </a:pPr>
            <a:r>
              <a:rPr lang="en-IN" altLang="en-US" sz="1900"/>
              <a:t>Enforce a default-deny command policy in code: classify every proposed command as lookup, read-only, mutating or rejected.</a:t>
            </a:r>
          </a:p>
          <a:p>
            <a:pPr>
              <a:lnSpc>
                <a:spcPct val="100000"/>
              </a:lnSpc>
              <a:spcBef>
                <a:spcPts val="0"/>
              </a:spcBef>
              <a:spcAft>
                <a:spcPts val="700"/>
              </a:spcAft>
              <a:defRPr/>
            </a:pPr>
            <a:r>
              <a:rPr lang="en-IN" altLang="en-US" sz="1900"/>
              <a:t>Require explicit human confirmation before any command that changes resources, with a per-session cap.</a:t>
            </a:r>
          </a:p>
          <a:p>
            <a:pPr>
              <a:lnSpc>
                <a:spcPct val="100000"/>
              </a:lnSpc>
              <a:spcBef>
                <a:spcPts val="0"/>
              </a:spcBef>
              <a:spcAft>
                <a:spcPts val="700"/>
              </a:spcAft>
              <a:defRPr/>
            </a:pPr>
            <a:r>
              <a:rPr lang="en-IN" altLang="en-US" sz="1900"/>
              <a:t>Execute commands only inside isolated, non-root, short-lived Docker sandboxes with scoped credentials.</a:t>
            </a:r>
          </a:p>
          <a:p>
            <a:pPr>
              <a:lnSpc>
                <a:spcPct val="100000"/>
              </a:lnSpc>
              <a:spcBef>
                <a:spcPts val="0"/>
              </a:spcBef>
              <a:spcAft>
                <a:spcPts val="700"/>
              </a:spcAft>
              <a:defRPr/>
            </a:pPr>
            <a:r>
              <a:rPr lang="en-IN" altLang="en-US" sz="1900"/>
              <a:t>Secure the platform with TOTP-based MFA, envelope encryption (AES-256-GCM) for credentials and a full audit log.</a:t>
            </a:r>
          </a:p>
          <a:p>
            <a:pPr>
              <a:lnSpc>
                <a:spcPct val="100000"/>
              </a:lnSpc>
              <a:spcBef>
                <a:spcPts val="0"/>
              </a:spcBef>
              <a:spcAft>
                <a:spcPts val="700"/>
              </a:spcAft>
              <a:defRPr/>
            </a:pPr>
            <a:r>
              <a:rPr lang="en-IN" altLang="en-US" sz="1900"/>
              <a:t>Keep it open: multiple LLM providers, white-label branding, and a containerised, versioned release.</a:t>
            </a:r>
            <a:endParaRPr lang="en-IN" altLang="en-US" sz="1900" dirty="0"/>
          </a:p>
        </p:txBody>
      </p:sp>
      <p:sp>
        <p:nvSpPr>
          <p:cNvPr id="13315" name="Title 2">
            <a:extLst>
              <a:ext uri="{FF2B5EF4-FFF2-40B4-BE49-F238E27FC236}">
                <a16:creationId xmlns:a16="http://schemas.microsoft.com/office/drawing/2014/main" id="{E05C2956-644D-CABC-578A-56586B883CBB}"/>
              </a:ext>
            </a:extLst>
          </p:cNvPr>
          <p:cNvSpPr>
            <a:spLocks noGrp="1" noChangeArrowheads="1"/>
          </p:cNvSpPr>
          <p:nvPr>
            <p:ph type="title"/>
          </p:nvPr>
        </p:nvSpPr>
        <p:spPr/>
        <p:txBody>
          <a:bodyPr/>
          <a:lstStyle/>
          <a:p>
            <a:pPr eaLnBrk="1" hangingPunct="1"/>
            <a:r>
              <a:rPr lang="en-IN" altLang="en-US" b="1"/>
              <a:t>Objective (s) of the Project</a:t>
            </a:r>
          </a:p>
        </p:txBody>
      </p:sp>
      <p:sp>
        <p:nvSpPr>
          <p:cNvPr id="4" name="Date Placeholder 3">
            <a:extLst>
              <a:ext uri="{FF2B5EF4-FFF2-40B4-BE49-F238E27FC236}">
                <a16:creationId xmlns:a16="http://schemas.microsoft.com/office/drawing/2014/main" id="{4CA82DA8-3BC8-8C32-3643-C1C3F44CF330}"/>
              </a:ext>
            </a:extLst>
          </p:cNvPr>
          <p:cNvSpPr>
            <a:spLocks noGrp="1"/>
          </p:cNvSpPr>
          <p:nvPr>
            <p:ph type="dt" sz="quarter" idx="10"/>
          </p:nvPr>
        </p:nvSpPr>
        <p:spPr/>
        <p:txBody>
          <a:bodyPr/>
          <a:lstStyle/>
          <a:p>
            <a:pPr>
              <a:defRPr/>
            </a:pPr>
            <a:fld id="{06B02AD6-91CA-4C34-8379-E4644CDC3DF3}" type="datetime1">
              <a:rPr lang="en-IN" smtClean="0"/>
              <a:pPr>
                <a:defRPr/>
              </a:pPr>
              <a:t>04-10-2026</a:t>
            </a:fld>
            <a:endParaRPr lang="en-US" dirty="0"/>
          </a:p>
        </p:txBody>
      </p:sp>
      <p:sp>
        <p:nvSpPr>
          <p:cNvPr id="13317" name="Footer Placeholder 4">
            <a:extLst>
              <a:ext uri="{FF2B5EF4-FFF2-40B4-BE49-F238E27FC236}">
                <a16:creationId xmlns:a16="http://schemas.microsoft.com/office/drawing/2014/main" id="{54A53110-E728-7935-4F16-7EC83264B2E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
        <p:nvSpPr>
          <p:cNvPr id="13318" name="Slide Number Placeholder 5">
            <a:extLst>
              <a:ext uri="{FF2B5EF4-FFF2-40B4-BE49-F238E27FC236}">
                <a16:creationId xmlns:a16="http://schemas.microsoft.com/office/drawing/2014/main" id="{BEE12504-1300-EB83-0BBB-F775C950126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789A60C9-4B57-4166-AB77-9181F3C4917E}" type="slidenum">
              <a:rPr lang="en-US" altLang="en-US" sz="1200">
                <a:solidFill>
                  <a:schemeClr val="bg1"/>
                </a:solidFill>
              </a:rPr>
              <a:pPr>
                <a:lnSpc>
                  <a:spcPct val="100000"/>
                </a:lnSpc>
                <a:spcBef>
                  <a:spcPct val="0"/>
                </a:spcBef>
                <a:buFontTx/>
                <a:buNone/>
              </a:pPr>
              <a:t>7</a:t>
            </a:fld>
            <a:endParaRPr lang="en-US" altLang="en-US" sz="120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D2CAE0E-4EAB-132B-5CD8-BFFE02CB11BE}"/>
              </a:ext>
            </a:extLst>
          </p:cNvPr>
          <p:cNvSpPr>
            <a:spLocks noGrp="1" noChangeArrowheads="1"/>
          </p:cNvSpPr>
          <p:nvPr>
            <p:ph type="title"/>
          </p:nvPr>
        </p:nvSpPr>
        <p:spPr>
          <a:xfrm>
            <a:off x="838200" y="365125"/>
            <a:ext cx="9761538" cy="1325563"/>
          </a:xfrm>
        </p:spPr>
        <p:txBody>
          <a:bodyPr/>
          <a:lstStyle/>
          <a:p>
            <a:pPr eaLnBrk="1" hangingPunct="1"/>
            <a:r>
              <a:rPr lang="en-IN" altLang="en-US" b="1"/>
              <a:t>Proposed Framework/Methodology</a:t>
            </a:r>
            <a:endParaRPr lang="en-US" altLang="en-US" b="1"/>
          </a:p>
        </p:txBody>
      </p:sp>
      <p:sp>
        <p:nvSpPr>
          <p:cNvPr id="14339" name="Content Placeholder 2">
            <a:extLst>
              <a:ext uri="{FF2B5EF4-FFF2-40B4-BE49-F238E27FC236}">
                <a16:creationId xmlns:a16="http://schemas.microsoft.com/office/drawing/2014/main" id="{ECD13306-7B9F-59C5-A2D4-4BD87E589A13}"/>
              </a:ext>
            </a:extLst>
          </p:cNvPr>
          <p:cNvSpPr>
            <a:spLocks noGrp="1" noChangeArrowheads="1"/>
          </p:cNvSpPr>
          <p:nvPr>
            <p:ph idx="1"/>
          </p:nvPr>
        </p:nvSpPr>
        <p:spPr>
          <a:xfrm>
            <a:off x="381000" y="1587500"/>
            <a:ext cx="4889500" cy="3175000"/>
          </a:xfrm>
        </p:spPr>
        <p:txBody>
          <a:bodyPr wrap="square">
            <a:noAutofit/>
          </a:bodyPr>
          <a:lstStyle/>
          <a:p>
            <a:pPr marL="0" indent="0">
              <a:lnSpc>
                <a:spcPct val="100000"/>
              </a:lnSpc>
              <a:spcBef>
                <a:spcPts val="0"/>
              </a:spcBef>
              <a:spcAft>
                <a:spcPts val="700"/>
              </a:spcAft>
              <a:buNone/>
            </a:pPr>
            <a:r>
              <a:rPr lang="en-US" altLang="en-US" sz="1400" b="1"/>
              <a:t>Frontend:</a:t>
            </a:r>
            <a:r>
              <a:rPr lang="en-US" altLang="en-US" sz="1400"/>
              <a:t> React, Vite, Tailwind CSS (PWA)</a:t>
            </a:r>
          </a:p>
          <a:p>
            <a:pPr marL="0" indent="0">
              <a:lnSpc>
                <a:spcPct val="100000"/>
              </a:lnSpc>
              <a:spcBef>
                <a:spcPts val="0"/>
              </a:spcBef>
              <a:spcAft>
                <a:spcPts val="700"/>
              </a:spcAft>
              <a:buNone/>
            </a:pPr>
            <a:r>
              <a:rPr lang="en-US" altLang="en-US" sz="1400" b="1"/>
              <a:t>Backend:</a:t>
            </a:r>
            <a:r>
              <a:rPr lang="en-US" altLang="en-US" sz="1400"/>
              <a:t> Node.js, Express REST APIs</a:t>
            </a:r>
          </a:p>
          <a:p>
            <a:pPr marL="0" indent="0">
              <a:lnSpc>
                <a:spcPct val="100000"/>
              </a:lnSpc>
              <a:spcBef>
                <a:spcPts val="0"/>
              </a:spcBef>
              <a:spcAft>
                <a:spcPts val="700"/>
              </a:spcAft>
              <a:buNone/>
            </a:pPr>
            <a:r>
              <a:rPr lang="en-US" altLang="en-US" sz="1400" b="1"/>
              <a:t>Database:</a:t>
            </a:r>
            <a:r>
              <a:rPr lang="en-US" altLang="en-US" sz="1400"/>
              <a:t> PostgreSQL with Prisma ORM</a:t>
            </a:r>
          </a:p>
          <a:p>
            <a:pPr marL="0" indent="0">
              <a:lnSpc>
                <a:spcPct val="100000"/>
              </a:lnSpc>
              <a:spcBef>
                <a:spcPts val="0"/>
              </a:spcBef>
              <a:spcAft>
                <a:spcPts val="700"/>
              </a:spcAft>
              <a:buNone/>
            </a:pPr>
            <a:r>
              <a:rPr lang="en-US" altLang="en-US" sz="1400" b="1"/>
              <a:t>Object storage:</a:t>
            </a:r>
            <a:r>
              <a:rPr lang="en-US" altLang="en-US" sz="1400"/>
              <a:t> MinIO / S3 (branding assets)</a:t>
            </a:r>
          </a:p>
          <a:p>
            <a:pPr marL="0" indent="0">
              <a:lnSpc>
                <a:spcPct val="100000"/>
              </a:lnSpc>
              <a:spcBef>
                <a:spcPts val="0"/>
              </a:spcBef>
              <a:spcAft>
                <a:spcPts val="700"/>
              </a:spcAft>
              <a:buNone/>
            </a:pPr>
            <a:r>
              <a:rPr lang="en-US" altLang="en-US" sz="1400" b="1"/>
              <a:t>AI providers:</a:t>
            </a:r>
            <a:r>
              <a:rPr lang="en-US" altLang="en-US" sz="1400"/>
              <a:t> Anthropic, OpenAI, Gemini, Groq, NVIDIA</a:t>
            </a:r>
          </a:p>
          <a:p>
            <a:pPr marL="0" indent="0">
              <a:lnSpc>
                <a:spcPct val="100000"/>
              </a:lnSpc>
              <a:spcBef>
                <a:spcPts val="0"/>
              </a:spcBef>
              <a:spcAft>
                <a:spcPts val="700"/>
              </a:spcAft>
              <a:buNone/>
            </a:pPr>
            <a:r>
              <a:rPr lang="en-US" altLang="en-US" sz="1400" b="1"/>
              <a:t>Execution:</a:t>
            </a:r>
            <a:r>
              <a:rPr lang="en-US" altLang="en-US" sz="1400"/>
              <a:t> Docker sandbox with pinned AWS CLI</a:t>
            </a:r>
          </a:p>
          <a:p>
            <a:pPr marL="0" indent="0">
              <a:lnSpc>
                <a:spcPct val="100000"/>
              </a:lnSpc>
              <a:spcBef>
                <a:spcPts val="0"/>
              </a:spcBef>
              <a:spcAft>
                <a:spcPts val="700"/>
              </a:spcAft>
              <a:buNone/>
            </a:pPr>
            <a:r>
              <a:rPr lang="en-US" altLang="en-US" sz="1400" b="1"/>
              <a:t>Security:</a:t>
            </a:r>
            <a:r>
              <a:rPr lang="en-US" altLang="en-US" sz="1400"/>
              <a:t> JWT, TOTP MFA, AES-256-GCM envelope encryption, audit log</a:t>
            </a:r>
          </a:p>
          <a:p>
            <a:pPr marL="0" indent="0">
              <a:lnSpc>
                <a:spcPct val="100000"/>
              </a:lnSpc>
              <a:spcBef>
                <a:spcPts val="0"/>
              </a:spcBef>
              <a:spcAft>
                <a:spcPts val="700"/>
              </a:spcAft>
              <a:buNone/>
            </a:pPr>
            <a:r>
              <a:rPr lang="en-US" altLang="en-US" sz="1400" b="1"/>
              <a:t>DevOps:</a:t>
            </a:r>
            <a:r>
              <a:rPr lang="en-US" altLang="en-US" sz="1400"/>
              <a:t> Docker Compose, GitHub Actions, semantic-release, GHCR</a:t>
            </a:r>
          </a:p>
        </p:txBody>
      </p:sp>
      <p:sp>
        <p:nvSpPr>
          <p:cNvPr id="14340" name="Date Placeholder 5">
            <a:extLst>
              <a:ext uri="{FF2B5EF4-FFF2-40B4-BE49-F238E27FC236}">
                <a16:creationId xmlns:a16="http://schemas.microsoft.com/office/drawing/2014/main" id="{3C471DB7-ECDB-2176-AABB-EF77653CDFA6}"/>
              </a:ext>
            </a:extLst>
          </p:cNvPr>
          <p:cNvSpPr>
            <a:spLocks noGrp="1" noChangeArrowheads="1"/>
          </p:cNvSpPr>
          <p:nvPr>
            <p:ph type="dt" sz="quarter" idx="10"/>
          </p:nvPr>
        </p:nvSpPr>
        <p:spPr bwMode="auto">
          <a:xfrm>
            <a:off x="266700" y="6518275"/>
            <a:ext cx="2209800" cy="300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4595081B-E3E1-438F-A31C-29628568AB6E}" type="datetime1">
              <a:rPr lang="en-IN" altLang="en-US" sz="1200" smtClean="0">
                <a:solidFill>
                  <a:schemeClr val="bg1"/>
                </a:solidFill>
              </a:rPr>
              <a:pPr fontAlgn="base">
                <a:lnSpc>
                  <a:spcPct val="100000"/>
                </a:lnSpc>
                <a:spcBef>
                  <a:spcPct val="0"/>
                </a:spcBef>
                <a:spcAft>
                  <a:spcPct val="0"/>
                </a:spcAft>
                <a:buFontTx/>
                <a:buNone/>
              </a:pPr>
              <a:t>04-10-2026</a:t>
            </a:fld>
            <a:endParaRPr lang="en-US" altLang="en-US" sz="1200">
              <a:solidFill>
                <a:schemeClr val="bg1"/>
              </a:solidFill>
            </a:endParaRPr>
          </a:p>
        </p:txBody>
      </p:sp>
      <p:sp>
        <p:nvSpPr>
          <p:cNvPr id="14341" name="Slide Number Placeholder 6">
            <a:extLst>
              <a:ext uri="{FF2B5EF4-FFF2-40B4-BE49-F238E27FC236}">
                <a16:creationId xmlns:a16="http://schemas.microsoft.com/office/drawing/2014/main" id="{A0DE0685-71E2-7B91-2D80-A91332A98705}"/>
              </a:ext>
            </a:extLst>
          </p:cNvPr>
          <p:cNvSpPr>
            <a:spLocks noGrp="1" noChangeArrowheads="1"/>
          </p:cNvSpPr>
          <p:nvPr>
            <p:ph type="sldNum" sz="quarter" idx="12"/>
          </p:nvPr>
        </p:nvSpPr>
        <p:spPr bwMode="auto">
          <a:xfrm>
            <a:off x="9607550" y="6453188"/>
            <a:ext cx="1979613"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D4F4D6CB-21EF-407C-A885-36BEBD047764}" type="slidenum">
              <a:rPr lang="en-US" altLang="en-US" sz="1200">
                <a:solidFill>
                  <a:schemeClr val="bg1"/>
                </a:solidFill>
              </a:rPr>
              <a:pPr>
                <a:lnSpc>
                  <a:spcPct val="100000"/>
                </a:lnSpc>
                <a:spcBef>
                  <a:spcPct val="0"/>
                </a:spcBef>
                <a:buFontTx/>
                <a:buNone/>
              </a:pPr>
              <a:t>8</a:t>
            </a:fld>
            <a:endParaRPr lang="en-US" altLang="en-US" sz="1200">
              <a:solidFill>
                <a:schemeClr val="bg1"/>
              </a:solidFill>
            </a:endParaRPr>
          </a:p>
        </p:txBody>
      </p:sp>
      <p:sp>
        <p:nvSpPr>
          <p:cNvPr id="14342" name="Footer Placeholder 9">
            <a:extLst>
              <a:ext uri="{FF2B5EF4-FFF2-40B4-BE49-F238E27FC236}">
                <a16:creationId xmlns:a16="http://schemas.microsoft.com/office/drawing/2014/main" id="{D48543DF-CE8C-2F4F-C555-204A6F166216}"/>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pic>
        <p:nvPicPr>
          <p:cNvPr id="3" name="Picture 2">
            <a:extLst>
              <a:ext uri="{FF2B5EF4-FFF2-40B4-BE49-F238E27FC236}">
                <a16:creationId xmlns:a16="http://schemas.microsoft.com/office/drawing/2014/main" id="{0B0429BC-913D-EFEB-E35E-927ECBD4B587}"/>
              </a:ext>
            </a:extLst>
          </p:cNvPr>
          <p:cNvPicPr>
            <a:picLocks/>
          </p:cNvPicPr>
          <p:nvPr/>
        </p:nvPicPr>
        <p:blipFill>
          <a:blip r:embed="rId2"/>
          <a:stretch>
            <a:fillRect/>
          </a:stretch>
        </p:blipFill>
        <p:spPr>
          <a:xfrm>
            <a:off x="431800" y="4889500"/>
            <a:ext cx="4699000" cy="1384300"/>
          </a:xfrm>
          <a:prstGeom prst="rect">
            <a:avLst/>
          </a:prstGeom>
        </p:spPr>
      </p:pic>
      <p:pic>
        <p:nvPicPr>
          <p:cNvPr id="5" name="Picture 4">
            <a:extLst>
              <a:ext uri="{FF2B5EF4-FFF2-40B4-BE49-F238E27FC236}">
                <a16:creationId xmlns:a16="http://schemas.microsoft.com/office/drawing/2014/main" id="{835EFF26-3621-E6F7-B7B7-C251D1AE3B38}"/>
              </a:ext>
            </a:extLst>
          </p:cNvPr>
          <p:cNvPicPr>
            <a:picLocks/>
          </p:cNvPicPr>
          <p:nvPr/>
        </p:nvPicPr>
        <p:blipFill>
          <a:blip r:embed="rId3"/>
          <a:stretch>
            <a:fillRect/>
          </a:stretch>
        </p:blipFill>
        <p:spPr>
          <a:xfrm>
            <a:off x="5397500" y="1905000"/>
            <a:ext cx="6477000" cy="3441700"/>
          </a:xfrm>
          <a:prstGeom prst="rect">
            <a:avLst/>
          </a:prstGeom>
          <a:ln w="9525">
            <a:solidFill>
              <a:srgbClr val="BFBFBF"/>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D2CAE0E-4EAB-132B-5CD8-BFFE02CB11BE}"/>
              </a:ext>
            </a:extLst>
          </p:cNvPr>
          <p:cNvSpPr>
            <a:spLocks noGrp="1" noChangeArrowheads="1"/>
          </p:cNvSpPr>
          <p:nvPr>
            <p:ph type="title"/>
          </p:nvPr>
        </p:nvSpPr>
        <p:spPr>
          <a:xfrm>
            <a:off x="838200" y="365125"/>
            <a:ext cx="9761538" cy="1325563"/>
          </a:xfrm>
        </p:spPr>
        <p:txBody>
          <a:bodyPr/>
          <a:lstStyle/>
          <a:p>
            <a:pPr eaLnBrk="1" hangingPunct="1"/>
            <a:r>
              <a:rPr lang="en-IN" altLang="en-US" b="1"/>
              <a:t>Agent Execution Flow</a:t>
            </a:r>
            <a:endParaRPr lang="en-US" altLang="en-US" b="1"/>
          </a:p>
        </p:txBody>
      </p:sp>
      <p:sp>
        <p:nvSpPr>
          <p:cNvPr id="14339" name="Content Placeholder 2">
            <a:extLst>
              <a:ext uri="{FF2B5EF4-FFF2-40B4-BE49-F238E27FC236}">
                <a16:creationId xmlns:a16="http://schemas.microsoft.com/office/drawing/2014/main" id="{ECD13306-7B9F-59C5-A2D4-4BD87E589A13}"/>
              </a:ext>
            </a:extLst>
          </p:cNvPr>
          <p:cNvSpPr>
            <a:spLocks noGrp="1" noChangeArrowheads="1"/>
          </p:cNvSpPr>
          <p:nvPr>
            <p:ph idx="1"/>
          </p:nvPr>
        </p:nvSpPr>
        <p:spPr>
          <a:xfrm>
            <a:off x="508000" y="1625600"/>
            <a:ext cx="6604000" cy="4699000"/>
          </a:xfrm>
        </p:spPr>
        <p:txBody>
          <a:bodyPr wrap="square">
            <a:noAutofit/>
          </a:bodyPr>
          <a:lstStyle/>
          <a:p>
            <a:pPr marL="0" indent="0">
              <a:lnSpc>
                <a:spcPct val="100000"/>
              </a:lnSpc>
              <a:spcBef>
                <a:spcPts val="0"/>
              </a:spcBef>
              <a:spcAft>
                <a:spcPts val="700"/>
              </a:spcAft>
              <a:buNone/>
            </a:pPr>
            <a:r>
              <a:rPr lang="en-IN" altLang="en-US" sz="1500" b="1"/>
              <a:t>1. Context:</a:t>
            </a:r>
            <a:r>
              <a:rPr lang="en-IN" altLang="en-US" sz="1500"/>
              <a:t> resolve Organisation, Workspace, mode and chat history.</a:t>
            </a:r>
          </a:p>
          <a:p>
            <a:pPr marL="0" indent="0">
              <a:lnSpc>
                <a:spcPct val="100000"/>
              </a:lnSpc>
              <a:spcBef>
                <a:spcPts val="0"/>
              </a:spcBef>
              <a:spcAft>
                <a:spcPts val="700"/>
              </a:spcAft>
              <a:buNone/>
            </a:pPr>
            <a:r>
              <a:rPr lang="en-IN" altLang="en-US" sz="1500" b="1"/>
              <a:t>2. Sandbox:</a:t>
            </a:r>
            <a:r>
              <a:rPr lang="en-IN" altLang="en-US" sz="1500"/>
              <a:t> start an isolated container for the session.</a:t>
            </a:r>
          </a:p>
          <a:p>
            <a:pPr marL="0" indent="0">
              <a:lnSpc>
                <a:spcPct val="100000"/>
              </a:lnSpc>
              <a:spcBef>
                <a:spcPts val="0"/>
              </a:spcBef>
              <a:spcAft>
                <a:spcPts val="700"/>
              </a:spcAft>
              <a:buNone/>
            </a:pPr>
            <a:r>
              <a:rPr lang="en-IN" altLang="en-US" sz="1500" b="1"/>
              <a:t>3. Credentials:</a:t>
            </a:r>
            <a:r>
              <a:rPr lang="en-IN" altLang="en-US" sz="1500"/>
              <a:t> decrypt only this Workspace's keys; never shown to the model.</a:t>
            </a:r>
          </a:p>
          <a:p>
            <a:pPr marL="0" indent="0">
              <a:lnSpc>
                <a:spcPct val="100000"/>
              </a:lnSpc>
              <a:spcBef>
                <a:spcPts val="0"/>
              </a:spcBef>
              <a:spcAft>
                <a:spcPts val="700"/>
              </a:spcAft>
              <a:buNone/>
            </a:pPr>
            <a:r>
              <a:rPr lang="en-IN" altLang="en-US" sz="1500" b="1"/>
              <a:t>4. Persona:</a:t>
            </a:r>
            <a:r>
              <a:rPr lang="en-IN" altLang="en-US" sz="1500"/>
              <a:t> load the system prompt for the mode or FinOps sub-mode.</a:t>
            </a:r>
          </a:p>
          <a:p>
            <a:pPr marL="0" indent="0">
              <a:lnSpc>
                <a:spcPct val="100000"/>
              </a:lnSpc>
              <a:spcBef>
                <a:spcPts val="0"/>
              </a:spcBef>
              <a:spcAft>
                <a:spcPts val="700"/>
              </a:spcAft>
              <a:buNone/>
            </a:pPr>
            <a:r>
              <a:rPr lang="en-IN" altLang="en-US" sz="1500" b="1"/>
              <a:t>5. Model call:</a:t>
            </a:r>
            <a:r>
              <a:rPr lang="en-IN" altLang="en-US" sz="1500"/>
              <a:t> the model replies with text or proposes a command.</a:t>
            </a:r>
          </a:p>
          <a:p>
            <a:pPr marL="0" indent="0">
              <a:lnSpc>
                <a:spcPct val="100000"/>
              </a:lnSpc>
              <a:spcBef>
                <a:spcPts val="0"/>
              </a:spcBef>
              <a:spcAft>
                <a:spcPts val="700"/>
              </a:spcAft>
              <a:buNone/>
            </a:pPr>
            <a:r>
              <a:rPr lang="en-IN" altLang="en-US" sz="1500" b="1"/>
              <a:t>6. Policy check:</a:t>
            </a:r>
            <a:r>
              <a:rPr lang="en-IN" altLang="en-US" sz="1500"/>
              <a:t> deterministic code parses and classifies the command.</a:t>
            </a:r>
          </a:p>
          <a:p>
            <a:pPr marL="0" indent="0">
              <a:lnSpc>
                <a:spcPct val="100000"/>
              </a:lnSpc>
              <a:spcBef>
                <a:spcPts val="0"/>
              </a:spcBef>
              <a:spcAft>
                <a:spcPts val="700"/>
              </a:spcAft>
              <a:buNone/>
            </a:pPr>
            <a:r>
              <a:rPr lang="en-IN" altLang="en-US" sz="1500" b="1"/>
              <a:t>7. Confirmation:</a:t>
            </a:r>
            <a:r>
              <a:rPr lang="en-IN" altLang="en-US" sz="1500"/>
              <a:t> mutating commands wait for the Operator.</a:t>
            </a:r>
          </a:p>
          <a:p>
            <a:pPr marL="0" indent="0">
              <a:lnSpc>
                <a:spcPct val="100000"/>
              </a:lnSpc>
              <a:spcBef>
                <a:spcPts val="0"/>
              </a:spcBef>
              <a:spcAft>
                <a:spcPts val="700"/>
              </a:spcAft>
              <a:buNone/>
            </a:pPr>
            <a:r>
              <a:rPr lang="en-IN" altLang="en-US" sz="1500" b="1"/>
              <a:t>8. Execution:</a:t>
            </a:r>
            <a:r>
              <a:rPr lang="en-IN" altLang="en-US" sz="1500"/>
              <a:t> run in the sandbox with a timeout; sanitise the output.</a:t>
            </a:r>
          </a:p>
          <a:p>
            <a:pPr marL="0" indent="0">
              <a:lnSpc>
                <a:spcPct val="100000"/>
              </a:lnSpc>
              <a:spcBef>
                <a:spcPts val="0"/>
              </a:spcBef>
              <a:spcAft>
                <a:spcPts val="700"/>
              </a:spcAft>
              <a:buNone/>
            </a:pPr>
            <a:r>
              <a:rPr lang="en-IN" altLang="en-US" sz="1500" b="1"/>
              <a:t>9. Relay and audit:</a:t>
            </a:r>
            <a:r>
              <a:rPr lang="en-IN" altLang="en-US" sz="1500"/>
              <a:t> result goes back to the model; every step is logged.</a:t>
            </a:r>
            <a:endParaRPr lang="en-US" altLang="en-US" sz="1500"/>
          </a:p>
        </p:txBody>
      </p:sp>
      <p:sp>
        <p:nvSpPr>
          <p:cNvPr id="14340" name="Date Placeholder 5">
            <a:extLst>
              <a:ext uri="{FF2B5EF4-FFF2-40B4-BE49-F238E27FC236}">
                <a16:creationId xmlns:a16="http://schemas.microsoft.com/office/drawing/2014/main" id="{3C471DB7-ECDB-2176-AABB-EF77653CDFA6}"/>
              </a:ext>
            </a:extLst>
          </p:cNvPr>
          <p:cNvSpPr>
            <a:spLocks noGrp="1" noChangeArrowheads="1"/>
          </p:cNvSpPr>
          <p:nvPr>
            <p:ph type="dt" sz="quarter" idx="10"/>
          </p:nvPr>
        </p:nvSpPr>
        <p:spPr bwMode="auto">
          <a:xfrm>
            <a:off x="266700" y="6518275"/>
            <a:ext cx="2209800" cy="3000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4595081B-E3E1-438F-A31C-29628568AB6E}" type="datetime1">
              <a:rPr lang="en-IN" altLang="en-US" sz="1200" smtClean="0">
                <a:solidFill>
                  <a:schemeClr val="bg1"/>
                </a:solidFill>
              </a:rPr>
              <a:pPr fontAlgn="base">
                <a:lnSpc>
                  <a:spcPct val="100000"/>
                </a:lnSpc>
                <a:spcBef>
                  <a:spcPct val="0"/>
                </a:spcBef>
                <a:spcAft>
                  <a:spcPct val="0"/>
                </a:spcAft>
                <a:buFontTx/>
                <a:buNone/>
              </a:pPr>
              <a:t>04-10-2026</a:t>
            </a:fld>
            <a:endParaRPr lang="en-US" altLang="en-US" sz="1200">
              <a:solidFill>
                <a:schemeClr val="bg1"/>
              </a:solidFill>
            </a:endParaRPr>
          </a:p>
        </p:txBody>
      </p:sp>
      <p:sp>
        <p:nvSpPr>
          <p:cNvPr id="14341" name="Slide Number Placeholder 6">
            <a:extLst>
              <a:ext uri="{FF2B5EF4-FFF2-40B4-BE49-F238E27FC236}">
                <a16:creationId xmlns:a16="http://schemas.microsoft.com/office/drawing/2014/main" id="{A0DE0685-71E2-7B91-2D80-A91332A98705}"/>
              </a:ext>
            </a:extLst>
          </p:cNvPr>
          <p:cNvSpPr>
            <a:spLocks noGrp="1" noChangeArrowheads="1"/>
          </p:cNvSpPr>
          <p:nvPr>
            <p:ph type="sldNum" sz="quarter" idx="12"/>
          </p:nvPr>
        </p:nvSpPr>
        <p:spPr bwMode="auto">
          <a:xfrm>
            <a:off x="9607550" y="6453188"/>
            <a:ext cx="1979613"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D4F4D6CB-21EF-407C-A885-36BEBD047764}" type="slidenum">
              <a:rPr lang="en-US" altLang="en-US" sz="1200">
                <a:solidFill>
                  <a:schemeClr val="bg1"/>
                </a:solidFill>
              </a:rPr>
              <a:pPr>
                <a:lnSpc>
                  <a:spcPct val="100000"/>
                </a:lnSpc>
                <a:spcBef>
                  <a:spcPct val="0"/>
                </a:spcBef>
                <a:buFontTx/>
                <a:buNone/>
              </a:pPr>
              <a:t>9</a:t>
            </a:fld>
            <a:endParaRPr lang="en-US" altLang="en-US" sz="1200">
              <a:solidFill>
                <a:schemeClr val="bg1"/>
              </a:solidFill>
            </a:endParaRPr>
          </a:p>
        </p:txBody>
      </p:sp>
      <p:sp>
        <p:nvSpPr>
          <p:cNvPr id="14342" name="Footer Placeholder 9">
            <a:extLst>
              <a:ext uri="{FF2B5EF4-FFF2-40B4-BE49-F238E27FC236}">
                <a16:creationId xmlns:a16="http://schemas.microsoft.com/office/drawing/2014/main" id="{D48543DF-CE8C-2F4F-C555-204A6F166216}"/>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pic>
        <p:nvPicPr>
          <p:cNvPr id="3" name="Picture 2">
            <a:extLst>
              <a:ext uri="{FF2B5EF4-FFF2-40B4-BE49-F238E27FC236}">
                <a16:creationId xmlns:a16="http://schemas.microsoft.com/office/drawing/2014/main" id="{4DFC03E5-AF7F-2418-901D-5818831D153C}"/>
              </a:ext>
            </a:extLst>
          </p:cNvPr>
          <p:cNvPicPr>
            <a:picLocks/>
          </p:cNvPicPr>
          <p:nvPr/>
        </p:nvPicPr>
        <p:blipFill>
          <a:blip r:embed="rId2"/>
          <a:stretch>
            <a:fillRect/>
          </a:stretch>
        </p:blipFill>
        <p:spPr>
          <a:xfrm>
            <a:off x="7493000" y="1422400"/>
            <a:ext cx="3937000" cy="4940300"/>
          </a:xfrm>
          <a:prstGeom prst="rect">
            <a:avLst/>
          </a:prstGeom>
          <a:ln w="9525">
            <a:solidFill>
              <a:srgbClr val="BFBFBF"/>
            </a:solidFill>
          </a:ln>
        </p:spPr>
      </p:pic>
    </p:spTree>
    <p:extLst>
      <p:ext uri="{BB962C8B-B14F-4D97-AF65-F5344CB8AC3E}">
        <p14:creationId xmlns:p14="http://schemas.microsoft.com/office/powerpoint/2010/main" val="2728797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1">
            <a:extLst>
              <a:ext uri="{FF2B5EF4-FFF2-40B4-BE49-F238E27FC236}">
                <a16:creationId xmlns:a16="http://schemas.microsoft.com/office/drawing/2014/main" id="{A8840A21-0CB9-E129-F893-9011A9E92581}"/>
              </a:ext>
            </a:extLst>
          </p:cNvPr>
          <p:cNvSpPr>
            <a:spLocks noGrp="1" noChangeArrowheads="1"/>
          </p:cNvSpPr>
          <p:nvPr>
            <p:ph idx="1"/>
          </p:nvPr>
        </p:nvSpPr>
        <p:spPr>
          <a:xfrm>
            <a:off x="508000" y="1422400"/>
            <a:ext cx="10160000" cy="609600"/>
          </a:xfrm>
        </p:spPr>
        <p:txBody>
          <a:bodyPr wrap="square">
            <a:noAutofit/>
          </a:bodyPr>
          <a:lstStyle/>
          <a:p>
            <a:pPr marL="0" indent="0">
              <a:lnSpc>
                <a:spcPct val="100000"/>
              </a:lnSpc>
              <a:spcBef>
                <a:spcPts val="0"/>
              </a:spcBef>
              <a:spcAft>
                <a:spcPts val="700"/>
              </a:spcAft>
              <a:buNone/>
            </a:pPr>
            <a:r>
              <a:rPr lang="en-IN" altLang="en-US" sz="1600"/>
              <a:t>PostgreSQL accessed through Prisma: 11 models. No external dataset is used; the system stores its own operational data.</a:t>
            </a:r>
          </a:p>
        </p:txBody>
      </p:sp>
      <p:sp>
        <p:nvSpPr>
          <p:cNvPr id="15363" name="Title 2">
            <a:extLst>
              <a:ext uri="{FF2B5EF4-FFF2-40B4-BE49-F238E27FC236}">
                <a16:creationId xmlns:a16="http://schemas.microsoft.com/office/drawing/2014/main" id="{2BBC0F27-69D9-5714-9EA6-E99999F6A83B}"/>
              </a:ext>
            </a:extLst>
          </p:cNvPr>
          <p:cNvSpPr>
            <a:spLocks noGrp="1" noChangeArrowheads="1"/>
          </p:cNvSpPr>
          <p:nvPr>
            <p:ph type="title"/>
          </p:nvPr>
        </p:nvSpPr>
        <p:spPr/>
        <p:txBody>
          <a:bodyPr/>
          <a:lstStyle/>
          <a:p>
            <a:r>
              <a:rPr lang="en-IN" altLang="en-US" b="1"/>
              <a:t>Database description</a:t>
            </a:r>
          </a:p>
        </p:txBody>
      </p:sp>
      <p:sp>
        <p:nvSpPr>
          <p:cNvPr id="4" name="Date Placeholder 3">
            <a:extLst>
              <a:ext uri="{FF2B5EF4-FFF2-40B4-BE49-F238E27FC236}">
                <a16:creationId xmlns:a16="http://schemas.microsoft.com/office/drawing/2014/main" id="{D60BB274-17FB-1E1E-8E82-E71B7950778E}"/>
              </a:ext>
            </a:extLst>
          </p:cNvPr>
          <p:cNvSpPr>
            <a:spLocks noGrp="1"/>
          </p:cNvSpPr>
          <p:nvPr>
            <p:ph type="dt" sz="quarter" idx="10"/>
          </p:nvPr>
        </p:nvSpPr>
        <p:spPr/>
        <p:txBody>
          <a:bodyPr/>
          <a:lstStyle/>
          <a:p>
            <a:pPr>
              <a:defRPr/>
            </a:pPr>
            <a:fld id="{06B02AD6-91CA-4C34-8379-E4644CDC3DF3}" type="datetime1">
              <a:rPr lang="en-IN" smtClean="0"/>
              <a:pPr>
                <a:defRPr/>
              </a:pPr>
              <a:t>04-10-2026</a:t>
            </a:fld>
            <a:endParaRPr lang="en-US" dirty="0"/>
          </a:p>
        </p:txBody>
      </p:sp>
      <p:sp>
        <p:nvSpPr>
          <p:cNvPr id="15365" name="Footer Placeholder 4">
            <a:extLst>
              <a:ext uri="{FF2B5EF4-FFF2-40B4-BE49-F238E27FC236}">
                <a16:creationId xmlns:a16="http://schemas.microsoft.com/office/drawing/2014/main" id="{82F9F93E-C2A1-D878-F26C-E122C3ADDC8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
        <p:nvSpPr>
          <p:cNvPr id="15366" name="Slide Number Placeholder 5">
            <a:extLst>
              <a:ext uri="{FF2B5EF4-FFF2-40B4-BE49-F238E27FC236}">
                <a16:creationId xmlns:a16="http://schemas.microsoft.com/office/drawing/2014/main" id="{D1AED1C1-6B06-492B-91F5-5A4549E4F43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90E773B7-C42E-4B70-9A45-30289BE3804B}" type="slidenum">
              <a:rPr lang="en-US" altLang="en-US" sz="1200">
                <a:solidFill>
                  <a:schemeClr val="bg1"/>
                </a:solidFill>
              </a:rPr>
              <a:pPr>
                <a:lnSpc>
                  <a:spcPct val="100000"/>
                </a:lnSpc>
                <a:spcBef>
                  <a:spcPct val="0"/>
                </a:spcBef>
                <a:buFontTx/>
                <a:buNone/>
              </a:pPr>
              <a:t>10</a:t>
            </a:fld>
            <a:endParaRPr lang="en-US" altLang="en-US" sz="1200">
              <a:solidFill>
                <a:schemeClr val="bg1"/>
              </a:solidFill>
            </a:endParaRPr>
          </a:p>
        </p:txBody>
      </p:sp>
      <p:graphicFrame>
        <p:nvGraphicFramePr>
          <p:cNvPr id="3" name="Table 2">
            <a:extLst>
              <a:ext uri="{FF2B5EF4-FFF2-40B4-BE49-F238E27FC236}">
                <a16:creationId xmlns:a16="http://schemas.microsoft.com/office/drawing/2014/main" id="{365B994C-869D-C2D2-950A-2B5756D5C83E}"/>
              </a:ext>
            </a:extLst>
          </p:cNvPr>
          <p:cNvGraphicFramePr>
            <a:graphicFrameLocks noGrp="1"/>
          </p:cNvGraphicFramePr>
          <p:nvPr>
            <p:extLst>
              <p:ext uri="{D42A27DB-BD31-4B8C-83A1-F6EECF244321}">
                <p14:modId xmlns:p14="http://schemas.microsoft.com/office/powerpoint/2010/main" val="1069977224"/>
              </p:ext>
            </p:extLst>
          </p:nvPr>
        </p:nvGraphicFramePr>
        <p:xfrm>
          <a:off x="508000" y="2057400"/>
          <a:ext cx="10160000" cy="2794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021179602"/>
                    </a:ext>
                  </a:extLst>
                </a:gridCol>
                <a:gridCol w="3683000">
                  <a:extLst>
                    <a:ext uri="{9D8B030D-6E8A-4147-A177-3AD203B41FA5}">
                      <a16:colId xmlns:a16="http://schemas.microsoft.com/office/drawing/2014/main" val="1886292534"/>
                    </a:ext>
                  </a:extLst>
                </a:gridCol>
                <a:gridCol w="4064000">
                  <a:extLst>
                    <a:ext uri="{9D8B030D-6E8A-4147-A177-3AD203B41FA5}">
                      <a16:colId xmlns:a16="http://schemas.microsoft.com/office/drawing/2014/main" val="1663686965"/>
                    </a:ext>
                  </a:extLst>
                </a:gridCol>
              </a:tblGrid>
              <a:tr h="254000">
                <a:tc>
                  <a:txBody>
                    <a:bodyPr/>
                    <a:lstStyle/>
                    <a:p>
                      <a:r>
                        <a:rPr lang="en-IN" sz="1200" b="1">
                          <a:solidFill>
                            <a:srgbClr val="FFFFFF"/>
                          </a:solidFill>
                          <a:latin typeface="Calibri" panose="020F0502020204030204" pitchFamily="34" charset="0"/>
                        </a:rPr>
                        <a:t>Model</a:t>
                      </a:r>
                    </a:p>
                  </a:txBody>
                  <a:tcPr marL="63500" marR="63500" marT="25400" marB="25400">
                    <a:solidFill>
                      <a:srgbClr val="0C2577"/>
                    </a:solidFill>
                  </a:tcPr>
                </a:tc>
                <a:tc>
                  <a:txBody>
                    <a:bodyPr/>
                    <a:lstStyle/>
                    <a:p>
                      <a:r>
                        <a:rPr lang="en-IN" sz="1200" b="1">
                          <a:solidFill>
                            <a:srgbClr val="FFFFFF"/>
                          </a:solidFill>
                          <a:latin typeface="Calibri" panose="020F0502020204030204" pitchFamily="34" charset="0"/>
                        </a:rPr>
                        <a:t>Purpose</a:t>
                      </a:r>
                    </a:p>
                  </a:txBody>
                  <a:tcPr marL="63500" marR="63500" marT="25400" marB="25400">
                    <a:solidFill>
                      <a:srgbClr val="0C2577"/>
                    </a:solidFill>
                  </a:tcPr>
                </a:tc>
                <a:tc>
                  <a:txBody>
                    <a:bodyPr/>
                    <a:lstStyle/>
                    <a:p>
                      <a:r>
                        <a:rPr lang="en-IN" sz="1200" b="1">
                          <a:solidFill>
                            <a:srgbClr val="FFFFFF"/>
                          </a:solidFill>
                          <a:latin typeface="Calibri" panose="020F0502020204030204" pitchFamily="34" charset="0"/>
                        </a:rPr>
                        <a:t>Key fields</a:t>
                      </a:r>
                    </a:p>
                  </a:txBody>
                  <a:tcPr marL="63500" marR="63500" marT="25400" marB="25400">
                    <a:solidFill>
                      <a:srgbClr val="0C2577"/>
                    </a:solidFill>
                  </a:tcPr>
                </a:tc>
                <a:extLst>
                  <a:ext uri="{0D108BD9-81ED-4DB2-BD59-A6C34878D82A}">
                    <a16:rowId xmlns:a16="http://schemas.microsoft.com/office/drawing/2014/main" val="748712301"/>
                  </a:ext>
                </a:extLst>
              </a:tr>
              <a:tr h="254000">
                <a:tc>
                  <a:txBody>
                    <a:bodyPr/>
                    <a:lstStyle/>
                    <a:p>
                      <a:r>
                        <a:rPr lang="en-IN" sz="1200" b="1">
                          <a:solidFill>
                            <a:srgbClr val="002060"/>
                          </a:solidFill>
                          <a:latin typeface="Calibri" panose="020F0502020204030204" pitchFamily="34" charset="0"/>
                        </a:rPr>
                        <a:t>User</a:t>
                      </a:r>
                    </a:p>
                  </a:txBody>
                  <a:tcPr marL="63500" marR="63500" marT="25400" marB="25400"/>
                </a:tc>
                <a:tc>
                  <a:txBody>
                    <a:bodyPr/>
                    <a:lstStyle/>
                    <a:p>
                      <a:r>
                        <a:rPr lang="en-IN" sz="1200" b="0">
                          <a:solidFill>
                            <a:srgbClr val="002060"/>
                          </a:solidFill>
                          <a:latin typeface="Calibri" panose="020F0502020204030204" pitchFamily="34" charset="0"/>
                        </a:rPr>
                        <a:t>Administrator or Operator account</a:t>
                      </a:r>
                    </a:p>
                  </a:txBody>
                  <a:tcPr marL="63500" marR="63500" marT="25400" marB="25400"/>
                </a:tc>
                <a:tc>
                  <a:txBody>
                    <a:bodyPr/>
                    <a:lstStyle/>
                    <a:p>
                      <a:r>
                        <a:rPr lang="en-IN" sz="1200" b="0">
                          <a:solidFill>
                            <a:srgbClr val="002060"/>
                          </a:solidFill>
                          <a:latin typeface="Calibri" panose="020F0502020204030204" pitchFamily="34" charset="0"/>
                        </a:rPr>
                        <a:t>role, passwordHash, totpSecretEncrypted, backupCodesHashed</a:t>
                      </a:r>
                    </a:p>
                  </a:txBody>
                  <a:tcPr marL="63500" marR="63500" marT="25400" marB="25400"/>
                </a:tc>
                <a:extLst>
                  <a:ext uri="{0D108BD9-81ED-4DB2-BD59-A6C34878D82A}">
                    <a16:rowId xmlns:a16="http://schemas.microsoft.com/office/drawing/2014/main" val="3833242885"/>
                  </a:ext>
                </a:extLst>
              </a:tr>
              <a:tr h="254000">
                <a:tc>
                  <a:txBody>
                    <a:bodyPr/>
                    <a:lstStyle/>
                    <a:p>
                      <a:r>
                        <a:rPr lang="en-IN" sz="1200" b="1">
                          <a:solidFill>
                            <a:srgbClr val="002060"/>
                          </a:solidFill>
                          <a:latin typeface="Calibri" panose="020F0502020204030204" pitchFamily="34" charset="0"/>
                        </a:rPr>
                        <a:t>Organisation, UserOrganisation</a:t>
                      </a:r>
                    </a:p>
                  </a:txBody>
                  <a:tcPr marL="63500" marR="63500" marT="25400" marB="25400"/>
                </a:tc>
                <a:tc>
                  <a:txBody>
                    <a:bodyPr/>
                    <a:lstStyle/>
                    <a:p>
                      <a:r>
                        <a:rPr lang="en-IN" sz="1200" b="0">
                          <a:solidFill>
                            <a:srgbClr val="002060"/>
                          </a:solidFill>
                          <a:latin typeface="Calibri" panose="020F0502020204030204" pitchFamily="34" charset="0"/>
                        </a:rPr>
                        <a:t>Client business and which Operators may access it</a:t>
                      </a:r>
                    </a:p>
                  </a:txBody>
                  <a:tcPr marL="63500" marR="63500" marT="25400" marB="25400"/>
                </a:tc>
                <a:tc>
                  <a:txBody>
                    <a:bodyPr/>
                    <a:lstStyle/>
                    <a:p>
                      <a:r>
                        <a:rPr lang="en-IN" sz="1200" b="0">
                          <a:solidFill>
                            <a:srgbClr val="002060"/>
                          </a:solidFill>
                          <a:latin typeface="Calibri" panose="020F0502020204030204" pitchFamily="34" charset="0"/>
                        </a:rPr>
                        <a:t>name, address, phone; userId + organisationId</a:t>
                      </a:r>
                    </a:p>
                  </a:txBody>
                  <a:tcPr marL="63500" marR="63500" marT="25400" marB="25400"/>
                </a:tc>
                <a:extLst>
                  <a:ext uri="{0D108BD9-81ED-4DB2-BD59-A6C34878D82A}">
                    <a16:rowId xmlns:a16="http://schemas.microsoft.com/office/drawing/2014/main" val="4255216073"/>
                  </a:ext>
                </a:extLst>
              </a:tr>
              <a:tr h="254000">
                <a:tc>
                  <a:txBody>
                    <a:bodyPr/>
                    <a:lstStyle/>
                    <a:p>
                      <a:r>
                        <a:rPr lang="en-IN" sz="1200" b="1">
                          <a:solidFill>
                            <a:srgbClr val="002060"/>
                          </a:solidFill>
                          <a:latin typeface="Calibri" panose="020F0502020204030204" pitchFamily="34" charset="0"/>
                        </a:rPr>
                        <a:t>Workspace</a:t>
                      </a:r>
                    </a:p>
                  </a:txBody>
                  <a:tcPr marL="63500" marR="63500" marT="25400" marB="25400"/>
                </a:tc>
                <a:tc>
                  <a:txBody>
                    <a:bodyPr/>
                    <a:lstStyle/>
                    <a:p>
                      <a:r>
                        <a:rPr lang="en-IN" sz="1200" b="0">
                          <a:solidFill>
                            <a:srgbClr val="002060"/>
                          </a:solidFill>
                          <a:latin typeface="Calibri" panose="020F0502020204030204" pitchFamily="34" charset="0"/>
                        </a:rPr>
                        <a:t>Organisation -&gt; Cloud provider -&gt; Account -&gt; Environment</a:t>
                      </a:r>
                    </a:p>
                  </a:txBody>
                  <a:tcPr marL="63500" marR="63500" marT="25400" marB="25400"/>
                </a:tc>
                <a:tc>
                  <a:txBody>
                    <a:bodyPr/>
                    <a:lstStyle/>
                    <a:p>
                      <a:r>
                        <a:rPr lang="en-IN" sz="1200" b="0">
                          <a:solidFill>
                            <a:srgbClr val="002060"/>
                          </a:solidFill>
                          <a:latin typeface="Calibri" panose="020F0502020204030204" pitchFamily="34" charset="0"/>
                        </a:rPr>
                        <a:t>csp, account, environment, isActive</a:t>
                      </a:r>
                    </a:p>
                  </a:txBody>
                  <a:tcPr marL="63500" marR="63500" marT="25400" marB="25400"/>
                </a:tc>
                <a:extLst>
                  <a:ext uri="{0D108BD9-81ED-4DB2-BD59-A6C34878D82A}">
                    <a16:rowId xmlns:a16="http://schemas.microsoft.com/office/drawing/2014/main" val="1476047642"/>
                  </a:ext>
                </a:extLst>
              </a:tr>
              <a:tr h="254000">
                <a:tc>
                  <a:txBody>
                    <a:bodyPr/>
                    <a:lstStyle/>
                    <a:p>
                      <a:r>
                        <a:rPr lang="en-IN" sz="1200" b="1">
                          <a:solidFill>
                            <a:srgbClr val="002060"/>
                          </a:solidFill>
                          <a:latin typeface="Calibri" panose="020F0502020204030204" pitchFamily="34" charset="0"/>
                        </a:rPr>
                        <a:t>WorkspaceCredential</a:t>
                      </a:r>
                    </a:p>
                  </a:txBody>
                  <a:tcPr marL="63500" marR="63500" marT="25400" marB="25400"/>
                </a:tc>
                <a:tc>
                  <a:txBody>
                    <a:bodyPr/>
                    <a:lstStyle/>
                    <a:p>
                      <a:r>
                        <a:rPr lang="en-IN" sz="1200" b="0">
                          <a:solidFill>
                            <a:srgbClr val="002060"/>
                          </a:solidFill>
                          <a:latin typeface="Calibri" panose="020F0502020204030204" pitchFamily="34" charset="0"/>
                        </a:rPr>
                        <a:t>Cloud access keys for one Workspace</a:t>
                      </a:r>
                    </a:p>
                  </a:txBody>
                  <a:tcPr marL="63500" marR="63500" marT="25400" marB="25400"/>
                </a:tc>
                <a:tc>
                  <a:txBody>
                    <a:bodyPr/>
                    <a:lstStyle/>
                    <a:p>
                      <a:r>
                        <a:rPr lang="en-IN" sz="1200" b="0">
                          <a:solidFill>
                            <a:srgbClr val="002060"/>
                          </a:solidFill>
                          <a:latin typeface="Calibri" panose="020F0502020204030204" pitchFamily="34" charset="0"/>
                        </a:rPr>
                        <a:t>encryptedCredentials (envelope-encrypted)</a:t>
                      </a:r>
                    </a:p>
                  </a:txBody>
                  <a:tcPr marL="63500" marR="63500" marT="25400" marB="25400"/>
                </a:tc>
                <a:extLst>
                  <a:ext uri="{0D108BD9-81ED-4DB2-BD59-A6C34878D82A}">
                    <a16:rowId xmlns:a16="http://schemas.microsoft.com/office/drawing/2014/main" val="2269522337"/>
                  </a:ext>
                </a:extLst>
              </a:tr>
              <a:tr h="254000">
                <a:tc>
                  <a:txBody>
                    <a:bodyPr/>
                    <a:lstStyle/>
                    <a:p>
                      <a:r>
                        <a:rPr lang="en-IN" sz="1200" b="1">
                          <a:solidFill>
                            <a:srgbClr val="002060"/>
                          </a:solidFill>
                          <a:latin typeface="Calibri" panose="020F0502020204030204" pitchFamily="34" charset="0"/>
                        </a:rPr>
                        <a:t>ChatSettings</a:t>
                      </a:r>
                    </a:p>
                  </a:txBody>
                  <a:tcPr marL="63500" marR="63500" marT="25400" marB="25400"/>
                </a:tc>
                <a:tc>
                  <a:txBody>
                    <a:bodyPr/>
                    <a:lstStyle/>
                    <a:p>
                      <a:r>
                        <a:rPr lang="en-IN" sz="1200" b="0">
                          <a:solidFill>
                            <a:srgbClr val="002060"/>
                          </a:solidFill>
                          <a:latin typeface="Calibri" panose="020F0502020204030204" pitchFamily="34" charset="0"/>
                        </a:rPr>
                        <a:t>Selected provider, model and limits</a:t>
                      </a:r>
                    </a:p>
                  </a:txBody>
                  <a:tcPr marL="63500" marR="63500" marT="25400" marB="25400"/>
                </a:tc>
                <a:tc>
                  <a:txBody>
                    <a:bodyPr/>
                    <a:lstStyle/>
                    <a:p>
                      <a:r>
                        <a:rPr lang="en-IN" sz="1200" b="0">
                          <a:solidFill>
                            <a:srgbClr val="002060"/>
                          </a:solidFill>
                          <a:latin typeface="Calibri" panose="020F0502020204030204" pitchFamily="34" charset="0"/>
                        </a:rPr>
                        <a:t>provider, model, sandbox timeouts, spendCeilingUsd</a:t>
                      </a:r>
                    </a:p>
                  </a:txBody>
                  <a:tcPr marL="63500" marR="63500" marT="25400" marB="25400"/>
                </a:tc>
                <a:extLst>
                  <a:ext uri="{0D108BD9-81ED-4DB2-BD59-A6C34878D82A}">
                    <a16:rowId xmlns:a16="http://schemas.microsoft.com/office/drawing/2014/main" val="125904990"/>
                  </a:ext>
                </a:extLst>
              </a:tr>
              <a:tr h="254000">
                <a:tc>
                  <a:txBody>
                    <a:bodyPr/>
                    <a:lstStyle/>
                    <a:p>
                      <a:r>
                        <a:rPr lang="en-IN" sz="1200" b="1">
                          <a:solidFill>
                            <a:srgbClr val="002060"/>
                          </a:solidFill>
                          <a:latin typeface="Calibri" panose="020F0502020204030204" pitchFamily="34" charset="0"/>
                        </a:rPr>
                        <a:t>AgentPersona</a:t>
                      </a:r>
                    </a:p>
                  </a:txBody>
                  <a:tcPr marL="63500" marR="63500" marT="25400" marB="25400"/>
                </a:tc>
                <a:tc>
                  <a:txBody>
                    <a:bodyPr/>
                    <a:lstStyle/>
                    <a:p>
                      <a:r>
                        <a:rPr lang="fr-FR" sz="1200" b="0">
                          <a:solidFill>
                            <a:srgbClr val="002060"/>
                          </a:solidFill>
                          <a:latin typeface="Calibri" panose="020F0502020204030204" pitchFamily="34" charset="0"/>
                        </a:rPr>
                        <a:t>System prompt per mode / sub-mode</a:t>
                      </a:r>
                      <a:endParaRPr lang="en-IN" sz="1200" b="0">
                        <a:solidFill>
                          <a:srgbClr val="002060"/>
                        </a:solidFill>
                        <a:latin typeface="Calibri" panose="020F0502020204030204" pitchFamily="34" charset="0"/>
                      </a:endParaRPr>
                    </a:p>
                  </a:txBody>
                  <a:tcPr marL="63500" marR="63500" marT="25400" marB="25400"/>
                </a:tc>
                <a:tc>
                  <a:txBody>
                    <a:bodyPr/>
                    <a:lstStyle/>
                    <a:p>
                      <a:r>
                        <a:rPr lang="en-IN" sz="1200" b="0">
                          <a:solidFill>
                            <a:srgbClr val="002060"/>
                          </a:solidFill>
                          <a:latin typeface="Calibri" panose="020F0502020204030204" pitchFamily="34" charset="0"/>
                        </a:rPr>
                        <a:t>modeKey, systemPrompt, allowedBinaries</a:t>
                      </a:r>
                    </a:p>
                  </a:txBody>
                  <a:tcPr marL="63500" marR="63500" marT="25400" marB="25400"/>
                </a:tc>
                <a:extLst>
                  <a:ext uri="{0D108BD9-81ED-4DB2-BD59-A6C34878D82A}">
                    <a16:rowId xmlns:a16="http://schemas.microsoft.com/office/drawing/2014/main" val="3427391913"/>
                  </a:ext>
                </a:extLst>
              </a:tr>
              <a:tr h="254000">
                <a:tc>
                  <a:txBody>
                    <a:bodyPr/>
                    <a:lstStyle/>
                    <a:p>
                      <a:r>
                        <a:rPr lang="en-IN" sz="1200" b="1">
                          <a:solidFill>
                            <a:srgbClr val="002060"/>
                          </a:solidFill>
                          <a:latin typeface="Calibri" panose="020F0502020204030204" pitchFamily="34" charset="0"/>
                        </a:rPr>
                        <a:t>ChatSession</a:t>
                      </a:r>
                    </a:p>
                  </a:txBody>
                  <a:tcPr marL="63500" marR="63500" marT="25400" marB="25400"/>
                </a:tc>
                <a:tc>
                  <a:txBody>
                    <a:bodyPr/>
                    <a:lstStyle/>
                    <a:p>
                      <a:r>
                        <a:rPr lang="en-IN" sz="1200" b="0">
                          <a:solidFill>
                            <a:srgbClr val="002060"/>
                          </a:solidFill>
                          <a:latin typeface="Calibri" panose="020F0502020204030204" pitchFamily="34" charset="0"/>
                        </a:rPr>
                        <a:t>One conversation in a Workspace</a:t>
                      </a:r>
                    </a:p>
                  </a:txBody>
                  <a:tcPr marL="63500" marR="63500" marT="25400" marB="25400"/>
                </a:tc>
                <a:tc>
                  <a:txBody>
                    <a:bodyPr/>
                    <a:lstStyle/>
                    <a:p>
                      <a:r>
                        <a:rPr lang="en-IN" sz="1200" b="0">
                          <a:solidFill>
                            <a:srgbClr val="002060"/>
                          </a:solidFill>
                          <a:latin typeface="Calibri" panose="020F0502020204030204" pitchFamily="34" charset="0"/>
                        </a:rPr>
                        <a:t>mode, subMode, sandbox state, mutatingCommandCap / Count</a:t>
                      </a:r>
                    </a:p>
                  </a:txBody>
                  <a:tcPr marL="63500" marR="63500" marT="25400" marB="25400"/>
                </a:tc>
                <a:extLst>
                  <a:ext uri="{0D108BD9-81ED-4DB2-BD59-A6C34878D82A}">
                    <a16:rowId xmlns:a16="http://schemas.microsoft.com/office/drawing/2014/main" val="3867951332"/>
                  </a:ext>
                </a:extLst>
              </a:tr>
              <a:tr h="254000">
                <a:tc>
                  <a:txBody>
                    <a:bodyPr/>
                    <a:lstStyle/>
                    <a:p>
                      <a:r>
                        <a:rPr lang="en-IN" sz="1200" b="1">
                          <a:solidFill>
                            <a:srgbClr val="002060"/>
                          </a:solidFill>
                          <a:latin typeface="Calibri" panose="020F0502020204030204" pitchFamily="34" charset="0"/>
                        </a:rPr>
                        <a:t>ChatMessage</a:t>
                      </a:r>
                    </a:p>
                  </a:txBody>
                  <a:tcPr marL="63500" marR="63500" marT="25400" marB="25400"/>
                </a:tc>
                <a:tc>
                  <a:txBody>
                    <a:bodyPr/>
                    <a:lstStyle/>
                    <a:p>
                      <a:r>
                        <a:rPr lang="en-IN" sz="1200" b="0">
                          <a:solidFill>
                            <a:srgbClr val="002060"/>
                          </a:solidFill>
                          <a:latin typeface="Calibri" panose="020F0502020204030204" pitchFamily="34" charset="0"/>
                        </a:rPr>
                        <a:t>Every message, command and result</a:t>
                      </a:r>
                    </a:p>
                  </a:txBody>
                  <a:tcPr marL="63500" marR="63500" marT="25400" marB="25400"/>
                </a:tc>
                <a:tc>
                  <a:txBody>
                    <a:bodyPr/>
                    <a:lstStyle/>
                    <a:p>
                      <a:r>
                        <a:rPr lang="en-IN" sz="1200" b="0">
                          <a:solidFill>
                            <a:srgbClr val="002060"/>
                          </a:solidFill>
                          <a:latin typeface="Calibri" panose="020F0502020204030204" pitchFamily="34" charset="0"/>
                        </a:rPr>
                        <a:t>role, kind, content, commandOutput, status</a:t>
                      </a:r>
                    </a:p>
                  </a:txBody>
                  <a:tcPr marL="63500" marR="63500" marT="25400" marB="25400"/>
                </a:tc>
                <a:extLst>
                  <a:ext uri="{0D108BD9-81ED-4DB2-BD59-A6C34878D82A}">
                    <a16:rowId xmlns:a16="http://schemas.microsoft.com/office/drawing/2014/main" val="3857288582"/>
                  </a:ext>
                </a:extLst>
              </a:tr>
              <a:tr h="254000">
                <a:tc>
                  <a:txBody>
                    <a:bodyPr/>
                    <a:lstStyle/>
                    <a:p>
                      <a:r>
                        <a:rPr lang="en-IN" sz="1200" b="1">
                          <a:solidFill>
                            <a:srgbClr val="002060"/>
                          </a:solidFill>
                          <a:latin typeface="Calibri" panose="020F0502020204030204" pitchFamily="34" charset="0"/>
                        </a:rPr>
                        <a:t>AuditLog</a:t>
                      </a:r>
                    </a:p>
                  </a:txBody>
                  <a:tcPr marL="63500" marR="63500" marT="25400" marB="25400"/>
                </a:tc>
                <a:tc>
                  <a:txBody>
                    <a:bodyPr/>
                    <a:lstStyle/>
                    <a:p>
                      <a:r>
                        <a:rPr lang="en-IN" sz="1200" b="0">
                          <a:solidFill>
                            <a:srgbClr val="002060"/>
                          </a:solidFill>
                          <a:latin typeface="Calibri" panose="020F0502020204030204" pitchFamily="34" charset="0"/>
                        </a:rPr>
                        <a:t>Independent record of every action</a:t>
                      </a:r>
                    </a:p>
                  </a:txBody>
                  <a:tcPr marL="63500" marR="63500" marT="25400" marB="25400"/>
                </a:tc>
                <a:tc>
                  <a:txBody>
                    <a:bodyPr/>
                    <a:lstStyle/>
                    <a:p>
                      <a:r>
                        <a:rPr lang="en-IN" sz="1200" b="0">
                          <a:solidFill>
                            <a:srgbClr val="002060"/>
                          </a:solidFill>
                          <a:latin typeface="Calibri" panose="020F0502020204030204" pitchFamily="34" charset="0"/>
                        </a:rPr>
                        <a:t>actor, workspace, action, outcome, metadata</a:t>
                      </a:r>
                    </a:p>
                  </a:txBody>
                  <a:tcPr marL="63500" marR="63500" marT="25400" marB="25400"/>
                </a:tc>
                <a:extLst>
                  <a:ext uri="{0D108BD9-81ED-4DB2-BD59-A6C34878D82A}">
                    <a16:rowId xmlns:a16="http://schemas.microsoft.com/office/drawing/2014/main" val="1963833834"/>
                  </a:ext>
                </a:extLst>
              </a:tr>
              <a:tr h="254000">
                <a:tc>
                  <a:txBody>
                    <a:bodyPr/>
                    <a:lstStyle/>
                    <a:p>
                      <a:r>
                        <a:rPr lang="en-IN" sz="1200" b="1">
                          <a:solidFill>
                            <a:srgbClr val="002060"/>
                          </a:solidFill>
                          <a:latin typeface="Calibri" panose="020F0502020204030204" pitchFamily="34" charset="0"/>
                        </a:rPr>
                        <a:t>InstanceBranding</a:t>
                      </a:r>
                    </a:p>
                  </a:txBody>
                  <a:tcPr marL="63500" marR="63500" marT="25400" marB="25400"/>
                </a:tc>
                <a:tc>
                  <a:txBody>
                    <a:bodyPr/>
                    <a:lstStyle/>
                    <a:p>
                      <a:r>
                        <a:rPr lang="en-IN" sz="1200" b="0">
                          <a:solidFill>
                            <a:srgbClr val="002060"/>
                          </a:solidFill>
                          <a:latin typeface="Calibri" panose="020F0502020204030204" pitchFamily="34" charset="0"/>
                        </a:rPr>
                        <a:t>White-label name, logo and login image</a:t>
                      </a:r>
                    </a:p>
                  </a:txBody>
                  <a:tcPr marL="63500" marR="63500" marT="25400" marB="25400"/>
                </a:tc>
                <a:tc>
                  <a:txBody>
                    <a:bodyPr/>
                    <a:lstStyle/>
                    <a:p>
                      <a:r>
                        <a:rPr lang="en-IN" sz="1200" b="0">
                          <a:solidFill>
                            <a:srgbClr val="002060"/>
                          </a:solidFill>
                          <a:latin typeface="Calibri" panose="020F0502020204030204" pitchFamily="34" charset="0"/>
                        </a:rPr>
                        <a:t>displayName, logoObjectKey, loginImageObjectKey</a:t>
                      </a:r>
                    </a:p>
                  </a:txBody>
                  <a:tcPr marL="63500" marR="63500" marT="25400" marB="25400"/>
                </a:tc>
                <a:extLst>
                  <a:ext uri="{0D108BD9-81ED-4DB2-BD59-A6C34878D82A}">
                    <a16:rowId xmlns:a16="http://schemas.microsoft.com/office/drawing/2014/main" val="314861283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a:extLst>
              <a:ext uri="{FF2B5EF4-FFF2-40B4-BE49-F238E27FC236}">
                <a16:creationId xmlns:a16="http://schemas.microsoft.com/office/drawing/2014/main" id="{AED67C39-C65A-C81B-27ED-7DA407795DFF}"/>
              </a:ext>
            </a:extLst>
          </p:cNvPr>
          <p:cNvSpPr>
            <a:spLocks noGrp="1" noChangeArrowheads="1"/>
          </p:cNvSpPr>
          <p:nvPr>
            <p:ph idx="1"/>
          </p:nvPr>
        </p:nvSpPr>
        <p:spPr>
          <a:xfrm>
            <a:off x="431800" y="1219200"/>
            <a:ext cx="5969000" cy="5080000"/>
          </a:xfrm>
        </p:spPr>
        <p:txBody>
          <a:bodyPr wrap="square">
            <a:noAutofit/>
          </a:bodyPr>
          <a:lstStyle/>
          <a:p>
            <a:pPr>
              <a:lnSpc>
                <a:spcPct val="100000"/>
              </a:lnSpc>
              <a:spcBef>
                <a:spcPts val="0"/>
              </a:spcBef>
              <a:spcAft>
                <a:spcPts val="700"/>
              </a:spcAft>
            </a:pPr>
            <a:r>
              <a:rPr lang="en-IN" altLang="en-US" sz="1500" b="1"/>
              <a:t>Setup:</a:t>
            </a:r>
            <a:r>
              <a:rPr lang="en-IN" altLang="en-US" sz="1500"/>
              <a:t> Node.js test runner on the backend; app run locally against PostgreSQL and MinIO.</a:t>
            </a:r>
          </a:p>
          <a:p>
            <a:pPr>
              <a:lnSpc>
                <a:spcPct val="100000"/>
              </a:lnSpc>
              <a:spcBef>
                <a:spcPts val="0"/>
              </a:spcBef>
              <a:spcAft>
                <a:spcPts val="700"/>
              </a:spcAft>
            </a:pPr>
            <a:r>
              <a:rPr lang="en-IN" altLang="en-US" sz="1500" b="1"/>
              <a:t>Result:</a:t>
            </a:r>
            <a:r>
              <a:rPr lang="en-IN" altLang="en-US" sz="1500"/>
              <a:t> 245 automated tests in 21 test files, 245 passed, 0 failed (about 15 s).</a:t>
            </a:r>
          </a:p>
          <a:p>
            <a:pPr>
              <a:lnSpc>
                <a:spcPct val="100000"/>
              </a:lnSpc>
              <a:spcBef>
                <a:spcPts val="0"/>
              </a:spcBef>
              <a:spcAft>
                <a:spcPts val="700"/>
              </a:spcAft>
            </a:pPr>
            <a:r>
              <a:rPr lang="en-IN" altLang="en-US" sz="1500" b="1"/>
              <a:t>Covered:</a:t>
            </a:r>
            <a:r>
              <a:rPr lang="en-IN" altLang="en-US" sz="1500"/>
              <a:t> command policy, output sanitiser, sandbox manager, agent orchestrator, five provider adapters, envelope encryption, admin and chat services.</a:t>
            </a:r>
          </a:p>
          <a:p>
            <a:pPr>
              <a:lnSpc>
                <a:spcPct val="100000"/>
              </a:lnSpc>
              <a:spcBef>
                <a:spcPts val="0"/>
              </a:spcBef>
              <a:spcAft>
                <a:spcPts val="700"/>
              </a:spcAft>
            </a:pPr>
            <a:r>
              <a:rPr lang="en-IN" altLang="en-US" sz="1500" b="1"/>
              <a:t>Policy behaviour:</a:t>
            </a:r>
            <a:r>
              <a:rPr lang="en-IN" altLang="en-US" sz="1500"/>
              <a:t> shell operators, command substitution and non-allowlisted binaries are rejected; mutating commands always wait for confirmation.</a:t>
            </a:r>
          </a:p>
          <a:p>
            <a:pPr>
              <a:lnSpc>
                <a:spcPct val="100000"/>
              </a:lnSpc>
              <a:spcBef>
                <a:spcPts val="0"/>
              </a:spcBef>
              <a:spcAft>
                <a:spcPts val="700"/>
              </a:spcAft>
            </a:pPr>
            <a:r>
              <a:rPr lang="en-IN" altLang="en-US" sz="1500" b="1"/>
              <a:t>User testing:</a:t>
            </a:r>
            <a:r>
              <a:rPr lang="en-IN" altLang="en-US" sz="1500"/>
              <a:t> shared with real users for hands-on testing; their AIOps and FinOps sessions ran real AWS CLI commands on a Workspace (next slide).</a:t>
            </a:r>
          </a:p>
        </p:txBody>
      </p:sp>
      <p:sp>
        <p:nvSpPr>
          <p:cNvPr id="16387" name="Title 2">
            <a:extLst>
              <a:ext uri="{FF2B5EF4-FFF2-40B4-BE49-F238E27FC236}">
                <a16:creationId xmlns:a16="http://schemas.microsoft.com/office/drawing/2014/main" id="{6F1F3D8E-0CC3-68D9-9E77-D9E7FD7FE4DF}"/>
              </a:ext>
            </a:extLst>
          </p:cNvPr>
          <p:cNvSpPr>
            <a:spLocks noGrp="1" noChangeArrowheads="1"/>
          </p:cNvSpPr>
          <p:nvPr>
            <p:ph type="title"/>
          </p:nvPr>
        </p:nvSpPr>
        <p:spPr>
          <a:xfrm>
            <a:off x="838200" y="158750"/>
            <a:ext cx="10515600" cy="944563"/>
          </a:xfrm>
        </p:spPr>
        <p:txBody>
          <a:bodyPr/>
          <a:lstStyle/>
          <a:p>
            <a:pPr eaLnBrk="1" hangingPunct="1"/>
            <a:r>
              <a:rPr lang="en-IN" altLang="en-US" b="1"/>
              <a:t>Experimental Results and Discussion </a:t>
            </a:r>
          </a:p>
        </p:txBody>
      </p:sp>
      <p:sp>
        <p:nvSpPr>
          <p:cNvPr id="4" name="Date Placeholder 3">
            <a:extLst>
              <a:ext uri="{FF2B5EF4-FFF2-40B4-BE49-F238E27FC236}">
                <a16:creationId xmlns:a16="http://schemas.microsoft.com/office/drawing/2014/main" id="{462E205B-7E14-F7B2-912A-5EAF36AF44F8}"/>
              </a:ext>
            </a:extLst>
          </p:cNvPr>
          <p:cNvSpPr>
            <a:spLocks noGrp="1"/>
          </p:cNvSpPr>
          <p:nvPr>
            <p:ph type="dt" sz="quarter" idx="10"/>
          </p:nvPr>
        </p:nvSpPr>
        <p:spPr/>
        <p:txBody>
          <a:bodyPr/>
          <a:lstStyle/>
          <a:p>
            <a:pPr>
              <a:defRPr/>
            </a:pPr>
            <a:fld id="{0AA7F9A9-EB40-4174-A8AB-BA6F6AA90C26}" type="datetime1">
              <a:rPr lang="en-IN" smtClean="0"/>
              <a:pPr>
                <a:defRPr/>
              </a:pPr>
              <a:t>04-10-2026</a:t>
            </a:fld>
            <a:endParaRPr lang="en-US" dirty="0"/>
          </a:p>
        </p:txBody>
      </p:sp>
      <p:sp>
        <p:nvSpPr>
          <p:cNvPr id="16389" name="Footer Placeholder 4">
            <a:extLst>
              <a:ext uri="{FF2B5EF4-FFF2-40B4-BE49-F238E27FC236}">
                <a16:creationId xmlns:a16="http://schemas.microsoft.com/office/drawing/2014/main" id="{E4E6EF5B-06EB-567C-BD35-A8217BF7F14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
        <p:nvSpPr>
          <p:cNvPr id="16390" name="Slide Number Placeholder 5">
            <a:extLst>
              <a:ext uri="{FF2B5EF4-FFF2-40B4-BE49-F238E27FC236}">
                <a16:creationId xmlns:a16="http://schemas.microsoft.com/office/drawing/2014/main" id="{70603848-5FB8-96B5-2F46-6EEF4333AC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463CB2BB-5E3A-4F6F-8A07-A823B3D073CF}" type="slidenum">
              <a:rPr lang="en-US" altLang="en-US" sz="1200">
                <a:solidFill>
                  <a:schemeClr val="bg1"/>
                </a:solidFill>
              </a:rPr>
              <a:pPr>
                <a:lnSpc>
                  <a:spcPct val="100000"/>
                </a:lnSpc>
                <a:spcBef>
                  <a:spcPct val="0"/>
                </a:spcBef>
                <a:buFontTx/>
                <a:buNone/>
              </a:pPr>
              <a:t>11</a:t>
            </a:fld>
            <a:endParaRPr lang="en-US" altLang="en-US" sz="1200">
              <a:solidFill>
                <a:schemeClr val="bg1"/>
              </a:solidFill>
            </a:endParaRPr>
          </a:p>
        </p:txBody>
      </p:sp>
      <p:pic>
        <p:nvPicPr>
          <p:cNvPr id="3" name="Picture 2">
            <a:extLst>
              <a:ext uri="{FF2B5EF4-FFF2-40B4-BE49-F238E27FC236}">
                <a16:creationId xmlns:a16="http://schemas.microsoft.com/office/drawing/2014/main" id="{5F9D3FF7-8004-3248-BFDE-3BCA3F0348D5}"/>
              </a:ext>
            </a:extLst>
          </p:cNvPr>
          <p:cNvPicPr>
            <a:picLocks/>
          </p:cNvPicPr>
          <p:nvPr/>
        </p:nvPicPr>
        <p:blipFill>
          <a:blip r:embed="rId2"/>
          <a:stretch>
            <a:fillRect/>
          </a:stretch>
        </p:blipFill>
        <p:spPr>
          <a:xfrm>
            <a:off x="6604000" y="2095500"/>
            <a:ext cx="5080000" cy="3175000"/>
          </a:xfrm>
          <a:prstGeom prst="rect">
            <a:avLst/>
          </a:prstGeom>
          <a:ln w="9525">
            <a:solidFill>
              <a:srgbClr val="BFBFBF"/>
            </a:solidFill>
          </a:ln>
        </p:spPr>
      </p:pic>
      <p:sp>
        <p:nvSpPr>
          <p:cNvPr id="5" name="TextBox 4">
            <a:extLst>
              <a:ext uri="{FF2B5EF4-FFF2-40B4-BE49-F238E27FC236}">
                <a16:creationId xmlns:a16="http://schemas.microsoft.com/office/drawing/2014/main" id="{5574ED74-3F29-32B9-8C5A-11BA1B5411AD}"/>
              </a:ext>
            </a:extLst>
          </p:cNvPr>
          <p:cNvSpPr txBox="1"/>
          <p:nvPr/>
        </p:nvSpPr>
        <p:spPr>
          <a:xfrm>
            <a:off x="6604000" y="5321300"/>
            <a:ext cx="5080000" cy="276999"/>
          </a:xfrm>
          <a:prstGeom prst="rect">
            <a:avLst/>
          </a:prstGeom>
          <a:noFill/>
        </p:spPr>
        <p:txBody>
          <a:bodyPr vert="horz" rtlCol="0">
            <a:spAutoFit/>
          </a:bodyPr>
          <a:lstStyle/>
          <a:p>
            <a:pPr algn="ctr"/>
            <a:r>
              <a:rPr lang="en-IN" sz="1200" i="1">
                <a:solidFill>
                  <a:srgbClr val="002060"/>
                </a:solidFill>
              </a:rPr>
              <a:t>OpenCAI sign-in screen (local run)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2">
            <a:extLst>
              <a:ext uri="{FF2B5EF4-FFF2-40B4-BE49-F238E27FC236}">
                <a16:creationId xmlns:a16="http://schemas.microsoft.com/office/drawing/2014/main" id="{6F1F3D8E-0CC3-68D9-9E77-D9E7FD7FE4DF}"/>
              </a:ext>
            </a:extLst>
          </p:cNvPr>
          <p:cNvSpPr>
            <a:spLocks noGrp="1" noChangeArrowheads="1"/>
          </p:cNvSpPr>
          <p:nvPr>
            <p:ph type="title"/>
          </p:nvPr>
        </p:nvSpPr>
        <p:spPr>
          <a:xfrm>
            <a:off x="838200" y="158750"/>
            <a:ext cx="10515600" cy="944563"/>
          </a:xfrm>
        </p:spPr>
        <p:txBody>
          <a:bodyPr/>
          <a:lstStyle/>
          <a:p>
            <a:pPr eaLnBrk="1" hangingPunct="1"/>
            <a:r>
              <a:rPr lang="en-IN" altLang="en-US" b="1"/>
              <a:t>Results: Application Screenshots</a:t>
            </a:r>
          </a:p>
        </p:txBody>
      </p:sp>
      <p:sp>
        <p:nvSpPr>
          <p:cNvPr id="4" name="Date Placeholder 3">
            <a:extLst>
              <a:ext uri="{FF2B5EF4-FFF2-40B4-BE49-F238E27FC236}">
                <a16:creationId xmlns:a16="http://schemas.microsoft.com/office/drawing/2014/main" id="{462E205B-7E14-F7B2-912A-5EAF36AF44F8}"/>
              </a:ext>
            </a:extLst>
          </p:cNvPr>
          <p:cNvSpPr>
            <a:spLocks noGrp="1"/>
          </p:cNvSpPr>
          <p:nvPr>
            <p:ph type="dt" sz="quarter" idx="10"/>
          </p:nvPr>
        </p:nvSpPr>
        <p:spPr/>
        <p:txBody>
          <a:bodyPr/>
          <a:lstStyle/>
          <a:p>
            <a:pPr>
              <a:defRPr/>
            </a:pPr>
            <a:fld id="{0AA7F9A9-EB40-4174-A8AB-BA6F6AA90C26}" type="datetime1">
              <a:rPr lang="en-IN" smtClean="0"/>
              <a:pPr>
                <a:defRPr/>
              </a:pPr>
              <a:t>04-10-2026</a:t>
            </a:fld>
            <a:endParaRPr lang="en-US" dirty="0"/>
          </a:p>
        </p:txBody>
      </p:sp>
      <p:sp>
        <p:nvSpPr>
          <p:cNvPr id="16389" name="Footer Placeholder 4">
            <a:extLst>
              <a:ext uri="{FF2B5EF4-FFF2-40B4-BE49-F238E27FC236}">
                <a16:creationId xmlns:a16="http://schemas.microsoft.com/office/drawing/2014/main" id="{E4E6EF5B-06EB-567C-BD35-A8217BF7F14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
        <p:nvSpPr>
          <p:cNvPr id="16390" name="Slide Number Placeholder 5">
            <a:extLst>
              <a:ext uri="{FF2B5EF4-FFF2-40B4-BE49-F238E27FC236}">
                <a16:creationId xmlns:a16="http://schemas.microsoft.com/office/drawing/2014/main" id="{70603848-5FB8-96B5-2F46-6EEF4333AC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463CB2BB-5E3A-4F6F-8A07-A823B3D073CF}" type="slidenum">
              <a:rPr lang="en-US" altLang="en-US" sz="1200">
                <a:solidFill>
                  <a:schemeClr val="bg1"/>
                </a:solidFill>
              </a:rPr>
              <a:pPr>
                <a:lnSpc>
                  <a:spcPct val="100000"/>
                </a:lnSpc>
                <a:spcBef>
                  <a:spcPct val="0"/>
                </a:spcBef>
                <a:buFontTx/>
                <a:buNone/>
              </a:pPr>
              <a:t>12</a:t>
            </a:fld>
            <a:endParaRPr lang="en-US" altLang="en-US" sz="1200">
              <a:solidFill>
                <a:schemeClr val="bg1"/>
              </a:solidFill>
            </a:endParaRPr>
          </a:p>
        </p:txBody>
      </p:sp>
      <p:pic>
        <p:nvPicPr>
          <p:cNvPr id="7" name="Picture 6">
            <a:extLst>
              <a:ext uri="{FF2B5EF4-FFF2-40B4-BE49-F238E27FC236}">
                <a16:creationId xmlns:a16="http://schemas.microsoft.com/office/drawing/2014/main" id="{93DF647A-1D33-1421-F1D7-120326BDF197}"/>
              </a:ext>
            </a:extLst>
          </p:cNvPr>
          <p:cNvPicPr>
            <a:picLocks/>
          </p:cNvPicPr>
          <p:nvPr/>
        </p:nvPicPr>
        <p:blipFill>
          <a:blip r:embed="rId2"/>
          <a:stretch>
            <a:fillRect/>
          </a:stretch>
        </p:blipFill>
        <p:spPr>
          <a:xfrm>
            <a:off x="381000" y="1371600"/>
            <a:ext cx="5029200" cy="2260600"/>
          </a:xfrm>
          <a:prstGeom prst="rect">
            <a:avLst/>
          </a:prstGeom>
          <a:ln w="9525">
            <a:solidFill>
              <a:srgbClr val="BFBFBF"/>
            </a:solidFill>
          </a:ln>
        </p:spPr>
      </p:pic>
      <p:sp>
        <p:nvSpPr>
          <p:cNvPr id="8" name="TextBox 7">
            <a:extLst>
              <a:ext uri="{FF2B5EF4-FFF2-40B4-BE49-F238E27FC236}">
                <a16:creationId xmlns:a16="http://schemas.microsoft.com/office/drawing/2014/main" id="{3C86292A-73B1-3694-9CDD-045CCD1ACD6A}"/>
              </a:ext>
            </a:extLst>
          </p:cNvPr>
          <p:cNvSpPr txBox="1"/>
          <p:nvPr/>
        </p:nvSpPr>
        <p:spPr>
          <a:xfrm>
            <a:off x="381000" y="3644900"/>
            <a:ext cx="5029200" cy="261610"/>
          </a:xfrm>
          <a:prstGeom prst="rect">
            <a:avLst/>
          </a:prstGeom>
          <a:noFill/>
        </p:spPr>
        <p:txBody>
          <a:bodyPr vert="horz" rtlCol="0">
            <a:spAutoFit/>
          </a:bodyPr>
          <a:lstStyle/>
          <a:p>
            <a:pPr algn="ctr"/>
            <a:r>
              <a:rPr lang="en-IN" sz="1100" i="1">
                <a:solidFill>
                  <a:srgbClr val="002060"/>
                </a:solidFill>
              </a:rPr>
              <a:t>AIOps: read-only command run on an AWS Workspace</a:t>
            </a:r>
          </a:p>
        </p:txBody>
      </p:sp>
      <p:pic>
        <p:nvPicPr>
          <p:cNvPr id="10" name="Picture 9">
            <a:extLst>
              <a:ext uri="{FF2B5EF4-FFF2-40B4-BE49-F238E27FC236}">
                <a16:creationId xmlns:a16="http://schemas.microsoft.com/office/drawing/2014/main" id="{2CE1138B-A148-F2C0-B3C4-00CD843B02C4}"/>
              </a:ext>
            </a:extLst>
          </p:cNvPr>
          <p:cNvPicPr>
            <a:picLocks/>
          </p:cNvPicPr>
          <p:nvPr/>
        </p:nvPicPr>
        <p:blipFill>
          <a:blip r:embed="rId3"/>
          <a:stretch>
            <a:fillRect/>
          </a:stretch>
        </p:blipFill>
        <p:spPr>
          <a:xfrm>
            <a:off x="5562600" y="1371600"/>
            <a:ext cx="5029200" cy="2260600"/>
          </a:xfrm>
          <a:prstGeom prst="rect">
            <a:avLst/>
          </a:prstGeom>
          <a:ln w="9525">
            <a:solidFill>
              <a:srgbClr val="BFBFBF"/>
            </a:solidFill>
          </a:ln>
        </p:spPr>
      </p:pic>
      <p:sp>
        <p:nvSpPr>
          <p:cNvPr id="11" name="TextBox 10">
            <a:extLst>
              <a:ext uri="{FF2B5EF4-FFF2-40B4-BE49-F238E27FC236}">
                <a16:creationId xmlns:a16="http://schemas.microsoft.com/office/drawing/2014/main" id="{D5F7D7F1-F414-86A7-501B-0B93FE289A28}"/>
              </a:ext>
            </a:extLst>
          </p:cNvPr>
          <p:cNvSpPr txBox="1"/>
          <p:nvPr/>
        </p:nvSpPr>
        <p:spPr>
          <a:xfrm>
            <a:off x="5562600" y="3644900"/>
            <a:ext cx="5029200" cy="261610"/>
          </a:xfrm>
          <a:prstGeom prst="rect">
            <a:avLst/>
          </a:prstGeom>
          <a:noFill/>
        </p:spPr>
        <p:txBody>
          <a:bodyPr vert="horz" rtlCol="0">
            <a:spAutoFit/>
          </a:bodyPr>
          <a:lstStyle/>
          <a:p>
            <a:pPr algn="ctr"/>
            <a:r>
              <a:rPr lang="en-IN" sz="1100" i="1">
                <a:solidFill>
                  <a:srgbClr val="002060"/>
                </a:solidFill>
              </a:rPr>
              <a:t>Mutating command (stop-instances) shown as EXECUTED</a:t>
            </a:r>
          </a:p>
        </p:txBody>
      </p:sp>
      <p:pic>
        <p:nvPicPr>
          <p:cNvPr id="13" name="Picture 12">
            <a:extLst>
              <a:ext uri="{FF2B5EF4-FFF2-40B4-BE49-F238E27FC236}">
                <a16:creationId xmlns:a16="http://schemas.microsoft.com/office/drawing/2014/main" id="{710D8A81-5D06-8DAC-E603-3584CA55FA40}"/>
              </a:ext>
            </a:extLst>
          </p:cNvPr>
          <p:cNvPicPr>
            <a:picLocks/>
          </p:cNvPicPr>
          <p:nvPr/>
        </p:nvPicPr>
        <p:blipFill>
          <a:blip r:embed="rId4"/>
          <a:stretch>
            <a:fillRect/>
          </a:stretch>
        </p:blipFill>
        <p:spPr>
          <a:xfrm>
            <a:off x="381000" y="3937000"/>
            <a:ext cx="5029200" cy="2260600"/>
          </a:xfrm>
          <a:prstGeom prst="rect">
            <a:avLst/>
          </a:prstGeom>
          <a:ln w="9525">
            <a:solidFill>
              <a:srgbClr val="BFBFBF"/>
            </a:solidFill>
          </a:ln>
        </p:spPr>
      </p:pic>
      <p:sp>
        <p:nvSpPr>
          <p:cNvPr id="14" name="TextBox 13">
            <a:extLst>
              <a:ext uri="{FF2B5EF4-FFF2-40B4-BE49-F238E27FC236}">
                <a16:creationId xmlns:a16="http://schemas.microsoft.com/office/drawing/2014/main" id="{DB9F68AD-FEBE-A2B9-15E2-CFB20403DF25}"/>
              </a:ext>
            </a:extLst>
          </p:cNvPr>
          <p:cNvSpPr txBox="1"/>
          <p:nvPr/>
        </p:nvSpPr>
        <p:spPr>
          <a:xfrm>
            <a:off x="381000" y="6210300"/>
            <a:ext cx="5029200" cy="261610"/>
          </a:xfrm>
          <a:prstGeom prst="rect">
            <a:avLst/>
          </a:prstGeom>
          <a:noFill/>
        </p:spPr>
        <p:txBody>
          <a:bodyPr vert="horz" rtlCol="0">
            <a:spAutoFit/>
          </a:bodyPr>
          <a:lstStyle/>
          <a:p>
            <a:pPr algn="ctr"/>
            <a:r>
              <a:rPr lang="en-IN" sz="1100" i="1">
                <a:solidFill>
                  <a:srgbClr val="002060"/>
                </a:solidFill>
              </a:rPr>
              <a:t>FinOps: four sub-mode agents</a:t>
            </a:r>
          </a:p>
        </p:txBody>
      </p:sp>
      <p:pic>
        <p:nvPicPr>
          <p:cNvPr id="16" name="Picture 15">
            <a:extLst>
              <a:ext uri="{FF2B5EF4-FFF2-40B4-BE49-F238E27FC236}">
                <a16:creationId xmlns:a16="http://schemas.microsoft.com/office/drawing/2014/main" id="{82DDD28E-947D-B975-21A9-86D9351DC691}"/>
              </a:ext>
            </a:extLst>
          </p:cNvPr>
          <p:cNvPicPr>
            <a:picLocks/>
          </p:cNvPicPr>
          <p:nvPr/>
        </p:nvPicPr>
        <p:blipFill>
          <a:blip r:embed="rId5"/>
          <a:stretch>
            <a:fillRect/>
          </a:stretch>
        </p:blipFill>
        <p:spPr>
          <a:xfrm>
            <a:off x="5562600" y="3937000"/>
            <a:ext cx="5029200" cy="2260600"/>
          </a:xfrm>
          <a:prstGeom prst="rect">
            <a:avLst/>
          </a:prstGeom>
          <a:ln w="9525">
            <a:solidFill>
              <a:srgbClr val="BFBFBF"/>
            </a:solidFill>
          </a:ln>
        </p:spPr>
      </p:pic>
      <p:sp>
        <p:nvSpPr>
          <p:cNvPr id="17" name="TextBox 16">
            <a:extLst>
              <a:ext uri="{FF2B5EF4-FFF2-40B4-BE49-F238E27FC236}">
                <a16:creationId xmlns:a16="http://schemas.microsoft.com/office/drawing/2014/main" id="{88D1F485-CC75-E4E6-445B-8DE42373E4D3}"/>
              </a:ext>
            </a:extLst>
          </p:cNvPr>
          <p:cNvSpPr txBox="1"/>
          <p:nvPr/>
        </p:nvSpPr>
        <p:spPr>
          <a:xfrm>
            <a:off x="5562600" y="6210300"/>
            <a:ext cx="5029200" cy="261610"/>
          </a:xfrm>
          <a:prstGeom prst="rect">
            <a:avLst/>
          </a:prstGeom>
          <a:noFill/>
        </p:spPr>
        <p:txBody>
          <a:bodyPr vert="horz" rtlCol="0">
            <a:spAutoFit/>
          </a:bodyPr>
          <a:lstStyle/>
          <a:p>
            <a:pPr algn="ctr"/>
            <a:r>
              <a:rPr lang="en-IN" sz="1100" i="1">
                <a:solidFill>
                  <a:srgbClr val="002060"/>
                </a:solidFill>
              </a:rPr>
              <a:t>Administrator dashboard</a:t>
            </a:r>
          </a:p>
        </p:txBody>
      </p:sp>
    </p:spTree>
    <p:extLst>
      <p:ext uri="{BB962C8B-B14F-4D97-AF65-F5344CB8AC3E}">
        <p14:creationId xmlns:p14="http://schemas.microsoft.com/office/powerpoint/2010/main" val="1426933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a:extLst>
              <a:ext uri="{FF2B5EF4-FFF2-40B4-BE49-F238E27FC236}">
                <a16:creationId xmlns:a16="http://schemas.microsoft.com/office/drawing/2014/main" id="{F8180939-41CA-70F6-9DDB-85D7397E37EB}"/>
              </a:ext>
            </a:extLst>
          </p:cNvPr>
          <p:cNvSpPr>
            <a:spLocks noGrp="1" noChangeArrowheads="1"/>
          </p:cNvSpPr>
          <p:nvPr>
            <p:ph idx="1"/>
          </p:nvPr>
        </p:nvSpPr>
        <p:spPr>
          <a:xfrm>
            <a:off x="838200" y="1587499"/>
            <a:ext cx="10160000" cy="4724400"/>
          </a:xfrm>
        </p:spPr>
        <p:txBody>
          <a:bodyPr wrap="square">
            <a:noAutofit/>
          </a:bodyPr>
          <a:lstStyle/>
          <a:p>
            <a:pPr>
              <a:lnSpc>
                <a:spcPct val="100000"/>
              </a:lnSpc>
              <a:spcBef>
                <a:spcPts val="0"/>
              </a:spcBef>
              <a:spcAft>
                <a:spcPts val="700"/>
              </a:spcAft>
            </a:pPr>
            <a:r>
              <a:rPr lang="en-IN" altLang="en-US" sz="1800"/>
              <a:t>OpenCAI lets Operators run cloud operations and cost analysis from chat, on a self-hosted, white-label platform.</a:t>
            </a:r>
          </a:p>
          <a:p>
            <a:pPr>
              <a:lnSpc>
                <a:spcPct val="100000"/>
              </a:lnSpc>
              <a:spcBef>
                <a:spcPts val="0"/>
              </a:spcBef>
              <a:spcAft>
                <a:spcPts val="700"/>
              </a:spcAft>
            </a:pPr>
            <a:r>
              <a:rPr lang="en-IN" altLang="en-US" sz="1800"/>
              <a:t>Safety comes from the layer around the model: default-deny policy, human confirmation, sandboxing, sanitised output and audit.</a:t>
            </a:r>
          </a:p>
          <a:p>
            <a:pPr>
              <a:lnSpc>
                <a:spcPct val="100000"/>
              </a:lnSpc>
              <a:spcBef>
                <a:spcPts val="0"/>
              </a:spcBef>
              <a:spcAft>
                <a:spcPts val="700"/>
              </a:spcAft>
            </a:pPr>
            <a:r>
              <a:rPr lang="en-IN" altLang="en-US" sz="1800"/>
              <a:t>The stack (React, Node.js, PostgreSQL, Docker) is containerised and released automatically with semantic versioning.</a:t>
            </a:r>
          </a:p>
          <a:p>
            <a:pPr>
              <a:lnSpc>
                <a:spcPct val="100000"/>
              </a:lnSpc>
              <a:spcBef>
                <a:spcPts val="0"/>
              </a:spcBef>
              <a:spcAft>
                <a:spcPts val="700"/>
              </a:spcAft>
            </a:pPr>
            <a:r>
              <a:rPr lang="en-IN" altLang="en-US" sz="1800" b="1"/>
              <a:t>Future directions:</a:t>
            </a:r>
          </a:p>
          <a:p>
            <a:pPr lvl="1">
              <a:lnSpc>
                <a:spcPct val="100000"/>
              </a:lnSpc>
              <a:spcBef>
                <a:spcPts val="0"/>
              </a:spcBef>
              <a:spcAft>
                <a:spcPts val="700"/>
              </a:spcAft>
            </a:pPr>
            <a:r>
              <a:rPr lang="en-IN" altLang="en-US" sz="1600" b="1"/>
              <a:t>On-Prem mode:</a:t>
            </a:r>
            <a:r>
              <a:rPr lang="en-IN" altLang="en-US" sz="1600"/>
              <a:t> extend the platform beyond public cloud to on-premises infrastructure.</a:t>
            </a:r>
          </a:p>
          <a:p>
            <a:pPr lvl="1">
              <a:lnSpc>
                <a:spcPct val="100000"/>
              </a:lnSpc>
              <a:spcBef>
                <a:spcPts val="0"/>
              </a:spcBef>
              <a:spcAft>
                <a:spcPts val="700"/>
              </a:spcAft>
            </a:pPr>
            <a:r>
              <a:rPr lang="en-IN" altLang="en-US" sz="1600" b="1"/>
              <a:t>Improved guardrails:</a:t>
            </a:r>
            <a:r>
              <a:rPr lang="en-IN" altLang="en-US" sz="1600"/>
              <a:t> restrict sandbox network egress and enforce the per-session spend ceiling.</a:t>
            </a:r>
          </a:p>
          <a:p>
            <a:pPr lvl="1">
              <a:lnSpc>
                <a:spcPct val="100000"/>
              </a:lnSpc>
              <a:spcBef>
                <a:spcPts val="0"/>
              </a:spcBef>
              <a:spcAft>
                <a:spcPts val="700"/>
              </a:spcAft>
            </a:pPr>
            <a:r>
              <a:rPr lang="en-IN" altLang="en-US" sz="1600" b="1"/>
              <a:t>Data backup:</a:t>
            </a:r>
            <a:r>
              <a:rPr lang="en-IN" altLang="en-US" sz="1600"/>
              <a:t> the database currently runs on the same VM as the application; add scheduled, off-host backups.</a:t>
            </a:r>
          </a:p>
        </p:txBody>
      </p:sp>
      <p:sp>
        <p:nvSpPr>
          <p:cNvPr id="17411" name="Title 2">
            <a:extLst>
              <a:ext uri="{FF2B5EF4-FFF2-40B4-BE49-F238E27FC236}">
                <a16:creationId xmlns:a16="http://schemas.microsoft.com/office/drawing/2014/main" id="{DCE6D83C-5FDE-964E-045C-B294721FE320}"/>
              </a:ext>
            </a:extLst>
          </p:cNvPr>
          <p:cNvSpPr>
            <a:spLocks noGrp="1" noChangeArrowheads="1"/>
          </p:cNvSpPr>
          <p:nvPr>
            <p:ph type="title"/>
          </p:nvPr>
        </p:nvSpPr>
        <p:spPr/>
        <p:txBody>
          <a:bodyPr/>
          <a:lstStyle/>
          <a:p>
            <a:r>
              <a:rPr lang="en-IN" altLang="en-US" b="1"/>
              <a:t>Conclusion and Future Directions</a:t>
            </a:r>
          </a:p>
        </p:txBody>
      </p:sp>
      <p:sp>
        <p:nvSpPr>
          <p:cNvPr id="4" name="Date Placeholder 3">
            <a:extLst>
              <a:ext uri="{FF2B5EF4-FFF2-40B4-BE49-F238E27FC236}">
                <a16:creationId xmlns:a16="http://schemas.microsoft.com/office/drawing/2014/main" id="{98BB76D1-3E42-8B11-43EF-B37E0C45B801}"/>
              </a:ext>
            </a:extLst>
          </p:cNvPr>
          <p:cNvSpPr>
            <a:spLocks noGrp="1"/>
          </p:cNvSpPr>
          <p:nvPr>
            <p:ph type="dt" sz="quarter" idx="10"/>
          </p:nvPr>
        </p:nvSpPr>
        <p:spPr/>
        <p:txBody>
          <a:bodyPr/>
          <a:lstStyle/>
          <a:p>
            <a:pPr>
              <a:defRPr/>
            </a:pPr>
            <a:fld id="{06B02AD6-91CA-4C34-8379-E4644CDC3DF3}" type="datetime1">
              <a:rPr lang="en-IN" smtClean="0"/>
              <a:pPr>
                <a:defRPr/>
              </a:pPr>
              <a:t>04-10-2026</a:t>
            </a:fld>
            <a:endParaRPr lang="en-US" dirty="0"/>
          </a:p>
        </p:txBody>
      </p:sp>
      <p:sp>
        <p:nvSpPr>
          <p:cNvPr id="17413" name="Footer Placeholder 4">
            <a:extLst>
              <a:ext uri="{FF2B5EF4-FFF2-40B4-BE49-F238E27FC236}">
                <a16:creationId xmlns:a16="http://schemas.microsoft.com/office/drawing/2014/main" id="{5C2CDB74-F066-2555-6410-2AD1F9DC8BB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
        <p:nvSpPr>
          <p:cNvPr id="17414" name="Slide Number Placeholder 5">
            <a:extLst>
              <a:ext uri="{FF2B5EF4-FFF2-40B4-BE49-F238E27FC236}">
                <a16:creationId xmlns:a16="http://schemas.microsoft.com/office/drawing/2014/main" id="{AAC8DF7B-62FD-BE7A-BAFA-684ABAE6F4A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68080818-7925-4E5D-A1B9-F50C3DCBCA65}" type="slidenum">
              <a:rPr lang="en-US" altLang="en-US" sz="1200">
                <a:solidFill>
                  <a:schemeClr val="bg1"/>
                </a:solidFill>
              </a:rPr>
              <a:pPr>
                <a:lnSpc>
                  <a:spcPct val="100000"/>
                </a:lnSpc>
                <a:spcBef>
                  <a:spcPct val="0"/>
                </a:spcBef>
                <a:buFontTx/>
                <a:buNone/>
              </a:pPr>
              <a:t>13</a:t>
            </a:fld>
            <a:endParaRPr lang="en-US" altLang="en-US" sz="120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5">
            <a:extLst>
              <a:ext uri="{FF2B5EF4-FFF2-40B4-BE49-F238E27FC236}">
                <a16:creationId xmlns:a16="http://schemas.microsoft.com/office/drawing/2014/main" id="{6C435515-3E3C-E618-C7C9-F3E4179A24AD}"/>
              </a:ext>
            </a:extLst>
          </p:cNvPr>
          <p:cNvSpPr txBox="1">
            <a:spLocks noChangeArrowheads="1"/>
          </p:cNvSpPr>
          <p:nvPr/>
        </p:nvSpPr>
        <p:spPr bwMode="auto">
          <a:xfrm>
            <a:off x="0" y="3175"/>
            <a:ext cx="12192000" cy="4727575"/>
          </a:xfrm>
          <a:prstGeom prst="rect">
            <a:avLst/>
          </a:prstGeom>
          <a:solidFill>
            <a:srgbClr val="0C2577"/>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defTabSz="6842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269875" indent="-134938" defTabSz="684213">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defTabSz="684213">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defTabSz="6842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defTabSz="684213">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6842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6842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6842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684213"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ts val="450"/>
              </a:spcBef>
              <a:spcAft>
                <a:spcPts val="450"/>
              </a:spcAft>
              <a:buClr>
                <a:srgbClr val="0C2577"/>
              </a:buClr>
              <a:buFont typeface="Arial" panose="020B0604020202020204" pitchFamily="34" charset="0"/>
              <a:buNone/>
            </a:pPr>
            <a:r>
              <a:rPr lang="en-US" altLang="en-US" sz="100">
                <a:solidFill>
                  <a:srgbClr val="0C2577"/>
                </a:solidFill>
                <a:latin typeface="Georgia" panose="02040502050405020303" pitchFamily="18" charset="0"/>
              </a:rPr>
              <a:t>..</a:t>
            </a:r>
          </a:p>
        </p:txBody>
      </p:sp>
      <p:sp>
        <p:nvSpPr>
          <p:cNvPr id="19459" name="Title 4">
            <a:extLst>
              <a:ext uri="{FF2B5EF4-FFF2-40B4-BE49-F238E27FC236}">
                <a16:creationId xmlns:a16="http://schemas.microsoft.com/office/drawing/2014/main" id="{7D2E2735-644E-7C32-7752-25B7190412F6}"/>
              </a:ext>
            </a:extLst>
          </p:cNvPr>
          <p:cNvSpPr>
            <a:spLocks noGrp="1" noChangeArrowheads="1"/>
          </p:cNvSpPr>
          <p:nvPr>
            <p:ph type="title"/>
          </p:nvPr>
        </p:nvSpPr>
        <p:spPr>
          <a:xfrm>
            <a:off x="931863" y="1536700"/>
            <a:ext cx="10515600" cy="1325563"/>
          </a:xfrm>
        </p:spPr>
        <p:txBody>
          <a:bodyPr/>
          <a:lstStyle/>
          <a:p>
            <a:pPr algn="ctr" eaLnBrk="1" hangingPunct="1"/>
            <a:r>
              <a:rPr lang="en-US" altLang="en-US" b="1">
                <a:solidFill>
                  <a:schemeClr val="bg1"/>
                </a:solidFill>
                <a:latin typeface="Georgia" panose="02040502050405020303" pitchFamily="18" charset="0"/>
              </a:rPr>
              <a:t>Thank You</a:t>
            </a:r>
          </a:p>
        </p:txBody>
      </p:sp>
      <p:pic>
        <p:nvPicPr>
          <p:cNvPr id="19460" name="Picture 5">
            <a:extLst>
              <a:ext uri="{FF2B5EF4-FFF2-40B4-BE49-F238E27FC236}">
                <a16:creationId xmlns:a16="http://schemas.microsoft.com/office/drawing/2014/main" id="{98D1894E-FAFA-612F-D48F-D9A44EDB70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 y="5002213"/>
            <a:ext cx="12446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TextBox 6">
            <a:extLst>
              <a:ext uri="{FF2B5EF4-FFF2-40B4-BE49-F238E27FC236}">
                <a16:creationId xmlns:a16="http://schemas.microsoft.com/office/drawing/2014/main" id="{9F11B643-9D5C-271D-1996-BFF7B1417FC2}"/>
              </a:ext>
            </a:extLst>
          </p:cNvPr>
          <p:cNvSpPr txBox="1">
            <a:spLocks noChangeArrowheads="1"/>
          </p:cNvSpPr>
          <p:nvPr/>
        </p:nvSpPr>
        <p:spPr bwMode="auto">
          <a:xfrm>
            <a:off x="1652588" y="5162550"/>
            <a:ext cx="55594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1800" b="1">
                <a:solidFill>
                  <a:srgbClr val="23298A"/>
                </a:solidFill>
                <a:latin typeface="Georgia" panose="02040502050405020303" pitchFamily="18" charset="0"/>
              </a:rPr>
              <a:t>Dr. Shyama Prasad Mukherjee International Institute of Information Technology, Naya Raipur </a:t>
            </a:r>
            <a:endParaRPr lang="en-US" altLang="en-US" sz="1800" b="1">
              <a:solidFill>
                <a:srgbClr val="23298A"/>
              </a:solidFill>
              <a:latin typeface="Georgia" panose="02040502050405020303" pitchFamily="18" charset="0"/>
            </a:endParaRPr>
          </a:p>
        </p:txBody>
      </p:sp>
      <p:sp>
        <p:nvSpPr>
          <p:cNvPr id="19462" name="Date Placeholder 7">
            <a:extLst>
              <a:ext uri="{FF2B5EF4-FFF2-40B4-BE49-F238E27FC236}">
                <a16:creationId xmlns:a16="http://schemas.microsoft.com/office/drawing/2014/main" id="{1677147E-C208-1D37-5BC6-DE5A337E1207}"/>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D602585-D5FB-486C-A1F8-DA378BF0DDA5}" type="datetime1">
              <a:rPr lang="en-IN" altLang="en-US" sz="1200" smtClean="0">
                <a:solidFill>
                  <a:schemeClr val="bg1"/>
                </a:solidFill>
              </a:rPr>
              <a:pPr fontAlgn="base">
                <a:lnSpc>
                  <a:spcPct val="100000"/>
                </a:lnSpc>
                <a:spcBef>
                  <a:spcPct val="0"/>
                </a:spcBef>
                <a:spcAft>
                  <a:spcPct val="0"/>
                </a:spcAft>
                <a:buFontTx/>
                <a:buNone/>
              </a:pPr>
              <a:t>04-10-2026</a:t>
            </a:fld>
            <a:endParaRPr lang="en-US" altLang="en-US" sz="1200">
              <a:solidFill>
                <a:schemeClr val="bg1"/>
              </a:solidFill>
            </a:endParaRPr>
          </a:p>
        </p:txBody>
      </p:sp>
      <p:sp>
        <p:nvSpPr>
          <p:cNvPr id="19463" name="Slide Number Placeholder 8">
            <a:extLst>
              <a:ext uri="{FF2B5EF4-FFF2-40B4-BE49-F238E27FC236}">
                <a16:creationId xmlns:a16="http://schemas.microsoft.com/office/drawing/2014/main" id="{0AA4D30F-CF31-9AAB-764F-C8769279D91D}"/>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fld id="{7F16DC18-4D8B-49CB-BFDB-1C3191589DCC}" type="slidenum">
              <a:rPr lang="en-US" altLang="en-US" sz="1200">
                <a:solidFill>
                  <a:schemeClr val="bg1"/>
                </a:solidFill>
              </a:rPr>
              <a:pPr>
                <a:lnSpc>
                  <a:spcPct val="100000"/>
                </a:lnSpc>
                <a:spcBef>
                  <a:spcPct val="0"/>
                </a:spcBef>
                <a:buFontTx/>
                <a:buNone/>
              </a:pPr>
              <a:t>14</a:t>
            </a:fld>
            <a:endParaRPr lang="en-US" altLang="en-US" sz="1200">
              <a:solidFill>
                <a:schemeClr val="bg1"/>
              </a:solidFill>
            </a:endParaRPr>
          </a:p>
        </p:txBody>
      </p:sp>
      <p:sp>
        <p:nvSpPr>
          <p:cNvPr id="19464" name="Footer Placeholder 12">
            <a:extLst>
              <a:ext uri="{FF2B5EF4-FFF2-40B4-BE49-F238E27FC236}">
                <a16:creationId xmlns:a16="http://schemas.microsoft.com/office/drawing/2014/main" id="{CF484B41-4BF5-4E09-7B23-1A1EA77B4E9A}"/>
              </a:ext>
            </a:extLst>
          </p:cNvPr>
          <p:cNvSpPr>
            <a:spLocks noGrp="1" noChangeArrowheads="1"/>
          </p:cNvSpPr>
          <p:nvPr>
            <p:ph type="ftr"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r>
              <a:rPr lang="en-US" altLang="en-US" sz="1400">
                <a:solidFill>
                  <a:schemeClr val="bg1"/>
                </a:solidFill>
                <a:latin typeface="Georgia" panose="02040502050405020303" pitchFamily="18" charset="0"/>
              </a:rPr>
              <a:t>International Institute of Information Technology, Naya Raipur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decel="100000" fill="hold" grpId="0" nodeType="withEffect">
                                  <p:stCondLst>
                                    <p:cond delay="250"/>
                                  </p:stCondLst>
                                  <p:childTnLst>
                                    <p:set>
                                      <p:cBhvr>
                                        <p:cTn id="6" dur="1" fill="hold">
                                          <p:stCondLst>
                                            <p:cond delay="0"/>
                                          </p:stCondLst>
                                        </p:cTn>
                                        <p:tgtEl>
                                          <p:spTgt spid="4">
                                            <p:bg/>
                                          </p:spTgt>
                                        </p:tgtEl>
                                        <p:attrNameLst>
                                          <p:attrName>style.visibility</p:attrName>
                                        </p:attrNameLst>
                                      </p:cBhvr>
                                      <p:to>
                                        <p:strVal val="visible"/>
                                      </p:to>
                                    </p:set>
                                    <p:anim calcmode="lin" valueType="num">
                                      <p:cBhvr additive="base">
                                        <p:cTn id="7" dur="1000" fill="hold"/>
                                        <p:tgtEl>
                                          <p:spTgt spid="4">
                                            <p:bg/>
                                          </p:spTgt>
                                        </p:tgtEl>
                                        <p:attrNameLst>
                                          <p:attrName>ppt_x</p:attrName>
                                        </p:attrNameLst>
                                      </p:cBhvr>
                                      <p:tavLst>
                                        <p:tav tm="0">
                                          <p:val>
                                            <p:strVal val="#ppt_x"/>
                                          </p:val>
                                        </p:tav>
                                        <p:tav tm="100000">
                                          <p:val>
                                            <p:strVal val="#ppt_x"/>
                                          </p:val>
                                        </p:tav>
                                      </p:tavLst>
                                    </p:anim>
                                    <p:anim calcmode="lin" valueType="num">
                                      <p:cBhvr additive="base">
                                        <p:cTn id="8" dur="1000" fill="hold"/>
                                        <p:tgtEl>
                                          <p:spTgt spid="4">
                                            <p:bg/>
                                          </p:spTgt>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250"/>
                                  </p:stCondLst>
                                  <p:childTnLst>
                                    <p:set>
                                      <p:cBhvr>
                                        <p:cTn id="10" dur="1" fill="hold">
                                          <p:stCondLst>
                                            <p:cond delay="0"/>
                                          </p:stCondLst>
                                        </p:cTn>
                                        <p:tgtEl>
                                          <p:spTgt spid="4">
                                            <p:txEl>
                                              <p:pRg st="0" end="0"/>
                                            </p:txEl>
                                          </p:spTgt>
                                        </p:tgtEl>
                                        <p:attrNameLst>
                                          <p:attrName>style.visibility</p:attrName>
                                        </p:attrNameLst>
                                      </p:cBhvr>
                                      <p:to>
                                        <p:strVal val="visible"/>
                                      </p:to>
                                    </p:set>
                                    <p:anim calcmode="lin" valueType="num">
                                      <p:cBhvr additive="base">
                                        <p:cTn id="11"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4">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tmplLst>
          <p:tmpl>
            <p:tnLst>
              <p:par>
                <p:cTn presetID="2" presetClass="entr" presetSubtype="1" decel="100000" fill="hold" nodeType="withEffect">
                  <p:stCondLst>
                    <p:cond delay="25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1000" fill="hold"/>
                        <p:tgtEl>
                          <p:spTgt spid="4"/>
                        </p:tgtEl>
                        <p:attrNameLst>
                          <p:attrName>ppt_x</p:attrName>
                        </p:attrNameLst>
                      </p:cBhvr>
                      <p:tavLst>
                        <p:tav tm="0">
                          <p:val>
                            <p:strVal val="#ppt_x"/>
                          </p:val>
                        </p:tav>
                        <p:tav tm="100000">
                          <p:val>
                            <p:strVal val="#ppt_x"/>
                          </p:val>
                        </p:tav>
                      </p:tavLst>
                    </p:anim>
                    <p:anim calcmode="lin" valueType="num">
                      <p:cBhvr additive="base">
                        <p:cTn dur="1000" fill="hold"/>
                        <p:tgtEl>
                          <p:spTgt spid="4"/>
                        </p:tgtEl>
                        <p:attrNameLst>
                          <p:attrName>ppt_y</p:attrName>
                        </p:attrNameLst>
                      </p:cBhvr>
                      <p:tavLst>
                        <p:tav tm="0">
                          <p:val>
                            <p:strVal val="0-#ppt_h/2"/>
                          </p:val>
                        </p:tav>
                        <p:tav tm="100000">
                          <p:val>
                            <p:strVal val="#ppt_y"/>
                          </p:val>
                        </p:tav>
                      </p:tavLst>
                    </p:anim>
                  </p:childTnLst>
                </p:cTn>
              </p:par>
            </p:tnLst>
          </p:tmpl>
          <p:tmpl lvl="1">
            <p:tnLst>
              <p:par>
                <p:cTn presetID="2" presetClass="entr" presetSubtype="1" decel="100000" fill="hold" nodeType="withEffect">
                  <p:stCondLst>
                    <p:cond delay="25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1000" fill="hold"/>
                        <p:tgtEl>
                          <p:spTgt spid="4"/>
                        </p:tgtEl>
                        <p:attrNameLst>
                          <p:attrName>ppt_x</p:attrName>
                        </p:attrNameLst>
                      </p:cBhvr>
                      <p:tavLst>
                        <p:tav tm="0">
                          <p:val>
                            <p:strVal val="#ppt_x"/>
                          </p:val>
                        </p:tav>
                        <p:tav tm="100000">
                          <p:val>
                            <p:strVal val="#ppt_x"/>
                          </p:val>
                        </p:tav>
                      </p:tavLst>
                    </p:anim>
                    <p:anim calcmode="lin" valueType="num">
                      <p:cBhvr additive="base">
                        <p:cTn dur="1000" fill="hold"/>
                        <p:tgtEl>
                          <p:spTgt spid="4"/>
                        </p:tgtEl>
                        <p:attrNameLst>
                          <p:attrName>ppt_y</p:attrName>
                        </p:attrNameLst>
                      </p:cBhvr>
                      <p:tavLst>
                        <p:tav tm="0">
                          <p:val>
                            <p:strVal val="0-#ppt_h/2"/>
                          </p:val>
                        </p:tav>
                        <p:tav tm="100000">
                          <p:val>
                            <p:strVal val="#ppt_y"/>
                          </p:val>
                        </p:tav>
                      </p:tavLst>
                    </p:anim>
                  </p:childTnLst>
                </p:cTn>
              </p:par>
            </p:tnLst>
          </p:tmpl>
        </p:tmplLst>
      </p:bldP>
    </p:bldLst>
  </p:timing>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l Template IIIT" id="{8839C0F0-3A9A-C149-BA4B-A6AA26401E1A}" vid="{66AB4241-E2E7-544B-BAE4-A134C58834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409</TotalTime>
  <Words>1472</Words>
  <Application>Microsoft Office PowerPoint</Application>
  <PresentationFormat>Widescreen</PresentationFormat>
  <Paragraphs>163</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Arial</vt:lpstr>
      <vt:lpstr>Calibri Light</vt:lpstr>
      <vt:lpstr>Minion</vt:lpstr>
      <vt:lpstr>Georgia</vt:lpstr>
      <vt:lpstr>Office Theme</vt:lpstr>
      <vt:lpstr>OpenCAI: Open Cloud AI</vt:lpstr>
      <vt:lpstr>Content</vt:lpstr>
      <vt:lpstr>Introduction</vt:lpstr>
      <vt:lpstr>Motivation</vt:lpstr>
      <vt:lpstr>Problem Definition/Problem statement</vt:lpstr>
      <vt:lpstr>Research Gap</vt:lpstr>
      <vt:lpstr>Objective (s) of the Project</vt:lpstr>
      <vt:lpstr>Proposed Framework/Methodology</vt:lpstr>
      <vt:lpstr>Agent Execution Flow</vt:lpstr>
      <vt:lpstr>Database description</vt:lpstr>
      <vt:lpstr>Experimental Results and Discussion </vt:lpstr>
      <vt:lpstr>Results: Application Screenshots</vt:lpstr>
      <vt:lpstr>Conclusion and Future Directions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Amit Agrawal</dc:creator>
  <cp:lastModifiedBy>Atharva Bedekar</cp:lastModifiedBy>
  <cp:revision>61</cp:revision>
  <dcterms:created xsi:type="dcterms:W3CDTF">2020-01-15T07:35:03Z</dcterms:created>
  <dcterms:modified xsi:type="dcterms:W3CDTF">2026-10-03T22:21:39Z</dcterms:modified>
</cp:coreProperties>
</file>